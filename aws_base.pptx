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2"/>
    <p:sldId id="260" r:id="rId3"/>
    <p:sldId id="265" r:id="rId4"/>
    <p:sldId id="263" r:id="rId5"/>
    <p:sldId id="264" r:id="rId6"/>
    <p:sldId id="266" r:id="rId7"/>
    <p:sldId id="272" r:id="rId8"/>
    <p:sldId id="270" r:id="rId9"/>
    <p:sldId id="268" r:id="rId10"/>
    <p:sldId id="273" r:id="rId11"/>
    <p:sldId id="275" r:id="rId12"/>
    <p:sldId id="276" r:id="rId13"/>
    <p:sldId id="277"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ung Do" initials="TD" lastIdx="6" clrIdx="0">
    <p:extLst>
      <p:ext uri="{19B8F6BF-5375-455C-9EA6-DF929625EA0E}">
        <p15:presenceInfo xmlns:p15="http://schemas.microsoft.com/office/powerpoint/2012/main" userId="056da8de5536fe7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5332" autoAdjust="0"/>
  </p:normalViewPr>
  <p:slideViewPr>
    <p:cSldViewPr snapToGrid="0">
      <p:cViewPr varScale="1">
        <p:scale>
          <a:sx n="83" d="100"/>
          <a:sy n="83" d="100"/>
        </p:scale>
        <p:origin x="658" y="7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4-13T09:23:14.714" idx="3">
    <p:pos x="2278" y="1648"/>
    <p:text>Cloud Computing - điện toán máy chủ ảo - cung cấp các công nghệ, tài nguyên máy tính liên kết với mạng Internet.</p:text>
    <p:extLst>
      <p:ext uri="{C676402C-5697-4E1C-873F-D02D1690AC5C}">
        <p15:threadingInfo xmlns:p15="http://schemas.microsoft.com/office/powerpoint/2012/main" timeZoneBias="-540"/>
      </p:ext>
    </p:extLst>
  </p:cm>
  <p:cm authorId="1" dt="2022-04-13T09:24:59.709" idx="4">
    <p:pos x="2278" y="1784"/>
    <p:text>Cloud Computing cho phép người truy cập tài nguyên điện toán dùng chung (mạng, server, lưu trữ, ứng dụng, dịch vụ) thông qua internet một cách dễ dàng, mọi lúc, mọi nơi, theo yêu cầu.</p:text>
    <p:extLst>
      <p:ext uri="{C676402C-5697-4E1C-873F-D02D1690AC5C}">
        <p15:threadingInfo xmlns:p15="http://schemas.microsoft.com/office/powerpoint/2012/main" timeZoneBias="-540">
          <p15:parentCm authorId="1" idx="3"/>
        </p15:threadingInfo>
      </p:ext>
    </p:extLst>
  </p:cm>
  <p:cm authorId="1" dt="2022-04-13T09:25:33.188" idx="5">
    <p:pos x="1626" y="2154"/>
    <p:text>Availability Zones are distinct locations within an AWS Region that are engineered to be isolated from failures in other Availability Zones.</p:text>
    <p:extLst>
      <p:ext uri="{C676402C-5697-4E1C-873F-D02D1690AC5C}">
        <p15:threadingInfo xmlns:p15="http://schemas.microsoft.com/office/powerpoint/2012/main" timeZoneBias="-540"/>
      </p:ext>
    </p:extLst>
  </p:cm>
  <p:cm authorId="1" dt="2022-04-13T09:25:41.896" idx="6">
    <p:pos x="1626" y="2290"/>
    <p:text>They provide inexpensive, low-latency network connectivity to other Availability Zones in the same AWS Region. Important. Each region is completely independent.</p:text>
    <p:extLst>
      <p:ext uri="{C676402C-5697-4E1C-873F-D02D1690AC5C}">
        <p15:threadingInfo xmlns:p15="http://schemas.microsoft.com/office/powerpoint/2012/main" timeZoneBias="-540">
          <p15:parentCm authorId="1" idx="5"/>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F83F6F-080B-440C-AE29-47537A689A92}" type="datetimeFigureOut">
              <a:rPr lang="en-US" smtClean="0"/>
              <a:t>13-Apr-22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9017F9-8101-417A-BA1A-6FA4EA49EEE4}" type="slidenum">
              <a:rPr lang="en-US" smtClean="0"/>
              <a:t>‹#›</a:t>
            </a:fld>
            <a:endParaRPr lang="en-US"/>
          </a:p>
        </p:txBody>
      </p:sp>
    </p:spTree>
    <p:extLst>
      <p:ext uri="{BB962C8B-B14F-4D97-AF65-F5344CB8AC3E}">
        <p14:creationId xmlns:p14="http://schemas.microsoft.com/office/powerpoint/2010/main" val="29277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what -</a:t>
            </a:r>
            <a:r>
              <a:rPr lang="en-US" baseline="0" smtClean="0"/>
              <a:t> when -</a:t>
            </a:r>
            <a:r>
              <a:rPr lang="en-US" smtClean="0"/>
              <a:t> where</a:t>
            </a:r>
            <a:r>
              <a:rPr lang="en-US" baseline="0" smtClean="0"/>
              <a:t> - who</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2</a:t>
            </a:fld>
            <a:endParaRPr lang="en-US"/>
          </a:p>
        </p:txBody>
      </p:sp>
    </p:spTree>
    <p:extLst>
      <p:ext uri="{BB962C8B-B14F-4D97-AF65-F5344CB8AC3E}">
        <p14:creationId xmlns:p14="http://schemas.microsoft.com/office/powerpoint/2010/main" val="4210889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what -</a:t>
            </a:r>
            <a:r>
              <a:rPr lang="en-US" baseline="0" smtClean="0"/>
              <a:t> when -</a:t>
            </a:r>
            <a:r>
              <a:rPr lang="en-US" smtClean="0"/>
              <a:t> where</a:t>
            </a:r>
            <a:r>
              <a:rPr lang="en-US" baseline="0" smtClean="0"/>
              <a:t> - who</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3</a:t>
            </a:fld>
            <a:endParaRPr lang="en-US"/>
          </a:p>
        </p:txBody>
      </p:sp>
    </p:spTree>
    <p:extLst>
      <p:ext uri="{BB962C8B-B14F-4D97-AF65-F5344CB8AC3E}">
        <p14:creationId xmlns:p14="http://schemas.microsoft.com/office/powerpoint/2010/main" val="219603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why</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4</a:t>
            </a:fld>
            <a:endParaRPr lang="en-US"/>
          </a:p>
        </p:txBody>
      </p:sp>
    </p:spTree>
    <p:extLst>
      <p:ext uri="{BB962C8B-B14F-4D97-AF65-F5344CB8AC3E}">
        <p14:creationId xmlns:p14="http://schemas.microsoft.com/office/powerpoint/2010/main" val="3799807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5</a:t>
            </a:fld>
            <a:endParaRPr lang="en-US"/>
          </a:p>
        </p:txBody>
      </p:sp>
    </p:spTree>
    <p:extLst>
      <p:ext uri="{BB962C8B-B14F-4D97-AF65-F5344CB8AC3E}">
        <p14:creationId xmlns:p14="http://schemas.microsoft.com/office/powerpoint/2010/main" val="3282393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6</a:t>
            </a:fld>
            <a:endParaRPr lang="en-US"/>
          </a:p>
        </p:txBody>
      </p:sp>
    </p:spTree>
    <p:extLst>
      <p:ext uri="{BB962C8B-B14F-4D97-AF65-F5344CB8AC3E}">
        <p14:creationId xmlns:p14="http://schemas.microsoft.com/office/powerpoint/2010/main" val="504473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7</a:t>
            </a:fld>
            <a:endParaRPr lang="en-US"/>
          </a:p>
        </p:txBody>
      </p:sp>
    </p:spTree>
    <p:extLst>
      <p:ext uri="{BB962C8B-B14F-4D97-AF65-F5344CB8AC3E}">
        <p14:creationId xmlns:p14="http://schemas.microsoft.com/office/powerpoint/2010/main" val="1553610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8</a:t>
            </a:fld>
            <a:endParaRPr lang="en-US"/>
          </a:p>
        </p:txBody>
      </p:sp>
    </p:spTree>
    <p:extLst>
      <p:ext uri="{BB962C8B-B14F-4D97-AF65-F5344CB8AC3E}">
        <p14:creationId xmlns:p14="http://schemas.microsoft.com/office/powerpoint/2010/main" val="2259856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9</a:t>
            </a:fld>
            <a:endParaRPr lang="en-US"/>
          </a:p>
        </p:txBody>
      </p:sp>
    </p:spTree>
    <p:extLst>
      <p:ext uri="{BB962C8B-B14F-4D97-AF65-F5344CB8AC3E}">
        <p14:creationId xmlns:p14="http://schemas.microsoft.com/office/powerpoint/2010/main" val="2503758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10</a:t>
            </a:fld>
            <a:endParaRPr lang="en-US"/>
          </a:p>
        </p:txBody>
      </p:sp>
    </p:spTree>
    <p:extLst>
      <p:ext uri="{BB962C8B-B14F-4D97-AF65-F5344CB8AC3E}">
        <p14:creationId xmlns:p14="http://schemas.microsoft.com/office/powerpoint/2010/main" val="169743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11</a:t>
            </a:fld>
            <a:endParaRPr lang="en-US"/>
          </a:p>
        </p:txBody>
      </p:sp>
    </p:spTree>
    <p:extLst>
      <p:ext uri="{BB962C8B-B14F-4D97-AF65-F5344CB8AC3E}">
        <p14:creationId xmlns:p14="http://schemas.microsoft.com/office/powerpoint/2010/main" val="4065786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12</a:t>
            </a:fld>
            <a:endParaRPr lang="en-US"/>
          </a:p>
        </p:txBody>
      </p:sp>
    </p:spTree>
    <p:extLst>
      <p:ext uri="{BB962C8B-B14F-4D97-AF65-F5344CB8AC3E}">
        <p14:creationId xmlns:p14="http://schemas.microsoft.com/office/powerpoint/2010/main" val="1809453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13</a:t>
            </a:fld>
            <a:endParaRPr lang="en-US"/>
          </a:p>
        </p:txBody>
      </p:sp>
    </p:spTree>
    <p:extLst>
      <p:ext uri="{BB962C8B-B14F-4D97-AF65-F5344CB8AC3E}">
        <p14:creationId xmlns:p14="http://schemas.microsoft.com/office/powerpoint/2010/main" val="2465747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How</a:t>
            </a:r>
            <a:endParaRPr lang="en-US"/>
          </a:p>
        </p:txBody>
      </p:sp>
      <p:sp>
        <p:nvSpPr>
          <p:cNvPr id="4" name="Slide Number Placeholder 3"/>
          <p:cNvSpPr>
            <a:spLocks noGrp="1"/>
          </p:cNvSpPr>
          <p:nvPr>
            <p:ph type="sldNum" sz="quarter" idx="10"/>
          </p:nvPr>
        </p:nvSpPr>
        <p:spPr/>
        <p:txBody>
          <a:bodyPr/>
          <a:lstStyle/>
          <a:p>
            <a:fld id="{3F9017F9-8101-417A-BA1A-6FA4EA49EEE4}" type="slidenum">
              <a:rPr lang="en-US" smtClean="0"/>
              <a:t>14</a:t>
            </a:fld>
            <a:endParaRPr lang="en-US"/>
          </a:p>
        </p:txBody>
      </p:sp>
    </p:spTree>
    <p:extLst>
      <p:ext uri="{BB962C8B-B14F-4D97-AF65-F5344CB8AC3E}">
        <p14:creationId xmlns:p14="http://schemas.microsoft.com/office/powerpoint/2010/main" val="3295589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B39F87-57CA-4EA3-99B5-19CF86E9458F}" type="datetime1">
              <a:rPr lang="en-US" smtClean="0"/>
              <a:t>13-Apr-22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800"/>
            </a:lvl1pPr>
          </a:lstStyle>
          <a:p>
            <a:fld id="{7B7897BD-48E5-4DA5-B5A0-A5A7EEEB98D5}"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294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28F063-7A63-4A53-80DD-57B605CBB263}" type="datetime1">
              <a:rPr lang="en-US" smtClean="0"/>
              <a:t>13-Apr-22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897BD-48E5-4DA5-B5A0-A5A7EEEB98D5}" type="slidenum">
              <a:rPr lang="en-US" smtClean="0"/>
              <a:t>‹#›</a:t>
            </a:fld>
            <a:endParaRPr lang="en-US"/>
          </a:p>
        </p:txBody>
      </p:sp>
    </p:spTree>
    <p:extLst>
      <p:ext uri="{BB962C8B-B14F-4D97-AF65-F5344CB8AC3E}">
        <p14:creationId xmlns:p14="http://schemas.microsoft.com/office/powerpoint/2010/main" val="1110739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8B2683-7358-4319-8291-3CD5147695EC}" type="datetime1">
              <a:rPr lang="en-US" smtClean="0"/>
              <a:t>13-Apr-22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897BD-48E5-4DA5-B5A0-A5A7EEEB98D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496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93FFE4D-9F4F-4030-8443-6D28FC0D15A1}" type="datetime1">
              <a:rPr lang="en-US" smtClean="0"/>
              <a:t>13-Apr-22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7897BD-48E5-4DA5-B5A0-A5A7EEEB98D5}" type="slidenum">
              <a:rPr lang="en-US" smtClean="0"/>
              <a:t>‹#›</a:t>
            </a:fld>
            <a:endParaRPr lang="en-US"/>
          </a:p>
        </p:txBody>
      </p:sp>
    </p:spTree>
    <p:extLst>
      <p:ext uri="{BB962C8B-B14F-4D97-AF65-F5344CB8AC3E}">
        <p14:creationId xmlns:p14="http://schemas.microsoft.com/office/powerpoint/2010/main" val="4283335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08E1C3-E5F3-4C0E-B349-4FEC2B8A0A0C}" type="datetime1">
              <a:rPr lang="en-US" smtClean="0"/>
              <a:t>13-Apr-22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7897BD-48E5-4DA5-B5A0-A5A7EEEB98D5}" type="slidenum">
              <a:rPr lang="en-US" smtClean="0"/>
              <a:t>‹#›</a:t>
            </a:fld>
            <a:endParaRPr lang="en-US"/>
          </a:p>
        </p:txBody>
      </p:sp>
    </p:spTree>
    <p:extLst>
      <p:ext uri="{BB962C8B-B14F-4D97-AF65-F5344CB8AC3E}">
        <p14:creationId xmlns:p14="http://schemas.microsoft.com/office/powerpoint/2010/main" val="3747116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5464CAC-3646-49C3-BC9B-D670B3ADA8AC}" type="datetime1">
              <a:rPr lang="en-US" smtClean="0"/>
              <a:t>13-Apr-22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7897BD-48E5-4DA5-B5A0-A5A7EEEB98D5}" type="slidenum">
              <a:rPr lang="en-US" smtClean="0"/>
              <a:t>‹#›</a:t>
            </a:fld>
            <a:endParaRPr lang="en-US"/>
          </a:p>
        </p:txBody>
      </p:sp>
    </p:spTree>
    <p:extLst>
      <p:ext uri="{BB962C8B-B14F-4D97-AF65-F5344CB8AC3E}">
        <p14:creationId xmlns:p14="http://schemas.microsoft.com/office/powerpoint/2010/main" val="2767171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1E189B2-496B-4FD7-8C77-65830655A030}" type="datetime1">
              <a:rPr lang="en-US" smtClean="0"/>
              <a:t>13-Apr-22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lvl1pPr>
              <a:defRPr sz="1800"/>
            </a:lvl1pPr>
          </a:lstStyle>
          <a:p>
            <a:fld id="{7B7897BD-48E5-4DA5-B5A0-A5A7EEEB98D5}" type="slidenum">
              <a:rPr lang="en-US" smtClean="0"/>
              <a:pPr/>
              <a:t>‹#›</a:t>
            </a:fld>
            <a:endParaRPr lang="en-US"/>
          </a:p>
        </p:txBody>
      </p:sp>
    </p:spTree>
    <p:extLst>
      <p:ext uri="{BB962C8B-B14F-4D97-AF65-F5344CB8AC3E}">
        <p14:creationId xmlns:p14="http://schemas.microsoft.com/office/powerpoint/2010/main" val="911169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6374406-0B22-48C7-BBDC-912F6DA70D80}" type="datetime1">
              <a:rPr lang="en-US" smtClean="0"/>
              <a:t>13-Apr-22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B7897BD-48E5-4DA5-B5A0-A5A7EEEB98D5}" type="slidenum">
              <a:rPr lang="en-US" smtClean="0"/>
              <a:t>‹#›</a:t>
            </a:fld>
            <a:endParaRPr lang="en-US"/>
          </a:p>
        </p:txBody>
      </p:sp>
    </p:spTree>
    <p:extLst>
      <p:ext uri="{BB962C8B-B14F-4D97-AF65-F5344CB8AC3E}">
        <p14:creationId xmlns:p14="http://schemas.microsoft.com/office/powerpoint/2010/main" val="244694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4A80FE8-5338-4BE2-BCAC-6F9F7CC7239E}" type="datetime1">
              <a:rPr lang="en-US" smtClean="0"/>
              <a:t>13-Apr-22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7897BD-48E5-4DA5-B5A0-A5A7EEEB98D5}" type="slidenum">
              <a:rPr lang="en-US" smtClean="0"/>
              <a:t>‹#›</a:t>
            </a:fld>
            <a:endParaRPr lang="en-US"/>
          </a:p>
        </p:txBody>
      </p:sp>
    </p:spTree>
    <p:extLst>
      <p:ext uri="{BB962C8B-B14F-4D97-AF65-F5344CB8AC3E}">
        <p14:creationId xmlns:p14="http://schemas.microsoft.com/office/powerpoint/2010/main" val="422426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82D52B2-EE8B-42D0-960E-DBC7D3FD5863}" type="datetime1">
              <a:rPr lang="en-US" smtClean="0"/>
              <a:t>13-Apr-22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897BD-48E5-4DA5-B5A0-A5A7EEEB98D5}" type="slidenum">
              <a:rPr lang="en-US" smtClean="0"/>
              <a:t>‹#›</a:t>
            </a:fld>
            <a:endParaRPr lang="en-US"/>
          </a:p>
        </p:txBody>
      </p:sp>
    </p:spTree>
    <p:extLst>
      <p:ext uri="{BB962C8B-B14F-4D97-AF65-F5344CB8AC3E}">
        <p14:creationId xmlns:p14="http://schemas.microsoft.com/office/powerpoint/2010/main" val="559032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A90C5BA-41DB-4E12-A3A7-71CD973BCAB8}" type="datetime1">
              <a:rPr lang="en-US" smtClean="0"/>
              <a:t>13-Apr-22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7897BD-48E5-4DA5-B5A0-A5A7EEEB98D5}" type="slidenum">
              <a:rPr lang="en-US" smtClean="0"/>
              <a:t>‹#›</a:t>
            </a:fld>
            <a:endParaRPr lang="en-US"/>
          </a:p>
        </p:txBody>
      </p:sp>
    </p:spTree>
    <p:extLst>
      <p:ext uri="{BB962C8B-B14F-4D97-AF65-F5344CB8AC3E}">
        <p14:creationId xmlns:p14="http://schemas.microsoft.com/office/powerpoint/2010/main" val="3263589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C5D2588-E983-4529-A986-5C86809A22B8}" type="datetime1">
              <a:rPr lang="en-US" smtClean="0"/>
              <a:t>13-Apr-22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B7897BD-48E5-4DA5-B5A0-A5A7EEEB98D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02296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aws.training/Certification"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aws.amazon.com/vi/training/digital/aws-cloud-practitioner-essentials/"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www.youtube.com/watch?v=3hLmDS179YE"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udemy.com/course/aws-certified-cloud-practitioner-training-course/"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AWS Base</a:t>
            </a:r>
            <a:endParaRPr lang="en-US"/>
          </a:p>
        </p:txBody>
      </p:sp>
      <p:sp>
        <p:nvSpPr>
          <p:cNvPr id="3" name="Subtitle 2"/>
          <p:cNvSpPr>
            <a:spLocks noGrp="1"/>
          </p:cNvSpPr>
          <p:nvPr>
            <p:ph type="subTitle" idx="1"/>
          </p:nvPr>
        </p:nvSpPr>
        <p:spPr/>
        <p:txBody>
          <a:bodyPr/>
          <a:lstStyle/>
          <a:p>
            <a:r>
              <a:rPr lang="en-US" smtClean="0"/>
              <a:t>22-04-12</a:t>
            </a:r>
            <a:endParaRPr lang="en-US"/>
          </a:p>
        </p:txBody>
      </p:sp>
      <p:sp>
        <p:nvSpPr>
          <p:cNvPr id="4" name="Slide Number Placeholder 3"/>
          <p:cNvSpPr>
            <a:spLocks noGrp="1"/>
          </p:cNvSpPr>
          <p:nvPr>
            <p:ph type="sldNum" sz="quarter" idx="12"/>
          </p:nvPr>
        </p:nvSpPr>
        <p:spPr/>
        <p:txBody>
          <a:bodyPr/>
          <a:lstStyle/>
          <a:p>
            <a:fld id="{7B7897BD-48E5-4DA5-B5A0-A5A7EEEB98D5}" type="slidenum">
              <a:rPr lang="en-US" smtClean="0"/>
              <a:t>1</a:t>
            </a:fld>
            <a:endParaRPr lang="en-US"/>
          </a:p>
        </p:txBody>
      </p:sp>
    </p:spTree>
    <p:extLst>
      <p:ext uri="{BB962C8B-B14F-4D97-AF65-F5344CB8AC3E}">
        <p14:creationId xmlns:p14="http://schemas.microsoft.com/office/powerpoint/2010/main" val="1670468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291" y="1736437"/>
            <a:ext cx="5163128" cy="1754326"/>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Các Chương</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342900" indent="-342900">
              <a:buAutoNum type="arabicPeriod"/>
            </a:pPr>
            <a:r>
              <a:rPr lang="vi-VN" smtClean="0">
                <a:latin typeface="Calibri Light" panose="020F0302020204030204" pitchFamily="34" charset="0"/>
                <a:cs typeface="Calibri Light" panose="020F0302020204030204" pitchFamily="34" charset="0"/>
              </a:rPr>
              <a:t>Giới thiệu về AWS			p.3</a:t>
            </a:r>
          </a:p>
          <a:p>
            <a:pPr marL="342900" indent="-342900">
              <a:buAutoNum type="arabicPeriod"/>
            </a:pPr>
            <a:r>
              <a:rPr lang="vi-VN" smtClean="0">
                <a:latin typeface="Calibri Light" panose="020F0302020204030204" pitchFamily="34" charset="0"/>
                <a:cs typeface="Calibri Light" panose="020F0302020204030204" pitchFamily="34" charset="0"/>
              </a:rPr>
              <a:t>Giới </a:t>
            </a:r>
            <a:r>
              <a:rPr lang="vi-VN">
                <a:latin typeface="Calibri Light" panose="020F0302020204030204" pitchFamily="34" charset="0"/>
                <a:cs typeface="Calibri Light" panose="020F0302020204030204" pitchFamily="34" charset="0"/>
              </a:rPr>
              <a:t>thiệu về AWS Certification </a:t>
            </a:r>
            <a:r>
              <a:rPr lang="vi-VN" smtClean="0">
                <a:latin typeface="Calibri Light" panose="020F0302020204030204" pitchFamily="34" charset="0"/>
                <a:cs typeface="Calibri Light" panose="020F0302020204030204" pitchFamily="34" charset="0"/>
              </a:rPr>
              <a:t>		p.6</a:t>
            </a:r>
          </a:p>
          <a:p>
            <a:pPr marL="342900" indent="-342900">
              <a:buAutoNum type="arabicPeriod"/>
            </a:pPr>
            <a:r>
              <a:rPr lang="en-US">
                <a:latin typeface="Calibri Light" panose="020F0302020204030204" pitchFamily="34" charset="0"/>
                <a:cs typeface="Calibri Light" panose="020F0302020204030204" pitchFamily="34" charset="0"/>
              </a:rPr>
              <a:t>AWS </a:t>
            </a:r>
            <a:r>
              <a:rPr lang="en-US" smtClean="0">
                <a:latin typeface="Calibri Light" panose="020F0302020204030204" pitchFamily="34" charset="0"/>
                <a:cs typeface="Calibri Light" panose="020F0302020204030204" pitchFamily="34" charset="0"/>
              </a:rPr>
              <a:t>Cloud Practicioner </a:t>
            </a:r>
            <a:r>
              <a:rPr lang="vi-VN" smtClean="0">
                <a:latin typeface="Calibri Light" panose="020F0302020204030204" pitchFamily="34" charset="0"/>
                <a:cs typeface="Calibri Light" panose="020F0302020204030204" pitchFamily="34" charset="0"/>
              </a:rPr>
              <a:t>			p.9</a:t>
            </a:r>
          </a:p>
          <a:p>
            <a:pPr marL="342900" indent="-342900">
              <a:buAutoNum type="arabicPeriod"/>
            </a:pPr>
            <a:r>
              <a:rPr lang="vi-VN" smtClean="0">
                <a:latin typeface="Calibri Light" panose="020F0302020204030204" pitchFamily="34" charset="0"/>
                <a:cs typeface="Calibri Light" panose="020F0302020204030204" pitchFamily="34" charset="0"/>
              </a:rPr>
              <a:t>Cách ôn thi AWS </a:t>
            </a:r>
            <a:r>
              <a:rPr lang="en-US">
                <a:latin typeface="Calibri Light" panose="020F0302020204030204" pitchFamily="34" charset="0"/>
                <a:cs typeface="Calibri Light" panose="020F0302020204030204" pitchFamily="34" charset="0"/>
              </a:rPr>
              <a:t>Cloud </a:t>
            </a:r>
            <a:r>
              <a:rPr lang="en-US" smtClean="0">
                <a:latin typeface="Calibri Light" panose="020F0302020204030204" pitchFamily="34" charset="0"/>
                <a:cs typeface="Calibri Light" panose="020F0302020204030204" pitchFamily="34" charset="0"/>
              </a:rPr>
              <a:t>Practicioner</a:t>
            </a:r>
            <a:r>
              <a:rPr lang="vi-VN" smtClean="0">
                <a:latin typeface="Calibri Light" panose="020F0302020204030204" pitchFamily="34" charset="0"/>
                <a:cs typeface="Calibri Light" panose="020F0302020204030204" pitchFamily="34" charset="0"/>
              </a:rPr>
              <a:t>		p.13</a:t>
            </a:r>
            <a:endParaRPr lang="en-US">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smtClean="0">
                <a:latin typeface="Calibri Light" panose="020F0302020204030204" pitchFamily="34" charset="0"/>
                <a:cs typeface="Calibri Light" panose="020F0302020204030204" pitchFamily="34" charset="0"/>
              </a:rPr>
              <a:t>MỤC LỤC</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2</a:t>
            </a:fld>
            <a:endParaRPr lang="en-US"/>
          </a:p>
        </p:txBody>
      </p:sp>
    </p:spTree>
    <p:extLst>
      <p:ext uri="{BB962C8B-B14F-4D97-AF65-F5344CB8AC3E}">
        <p14:creationId xmlns:p14="http://schemas.microsoft.com/office/powerpoint/2010/main" val="75152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291" y="1736437"/>
            <a:ext cx="5163128" cy="3693319"/>
          </a:xfrm>
          <a:prstGeom prst="rect">
            <a:avLst/>
          </a:prstGeom>
          <a:noFill/>
        </p:spPr>
        <p:txBody>
          <a:bodyPr wrap="square" rtlCol="0">
            <a:spAutoFit/>
          </a:bodyPr>
          <a:lstStyle/>
          <a:p>
            <a:r>
              <a:rPr lang="en-US" b="1" u="sng" smtClean="0">
                <a:latin typeface="Calibri Light" panose="020F0302020204030204" pitchFamily="34" charset="0"/>
                <a:cs typeface="Calibri Light" panose="020F0302020204030204" pitchFamily="34" charset="0"/>
              </a:rPr>
              <a:t>AWS </a:t>
            </a:r>
            <a:r>
              <a:rPr lang="vi-VN" b="1" u="sng" smtClean="0">
                <a:latin typeface="Calibri Light" panose="020F0302020204030204" pitchFamily="34" charset="0"/>
                <a:cs typeface="Calibri Light" panose="020F0302020204030204" pitchFamily="34" charset="0"/>
              </a:rPr>
              <a:t>Là Gì?</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Amazon Web Services là nền tảng về điện toán đám mây (Cloud Computing).</a:t>
            </a:r>
          </a:p>
          <a:p>
            <a:pPr marL="285750" indent="-285750">
              <a:buFontTx/>
              <a:buChar char="-"/>
            </a:pPr>
            <a:r>
              <a:rPr lang="vi-VN" smtClean="0">
                <a:latin typeface="Calibri Light" panose="020F0302020204030204" pitchFamily="34" charset="0"/>
                <a:cs typeface="Calibri Light" panose="020F0302020204030204" pitchFamily="34" charset="0"/>
              </a:rPr>
              <a:t>Launched in 2006, lớn nhất hiện nay.</a:t>
            </a:r>
          </a:p>
          <a:p>
            <a:pPr marL="285750" indent="-285750">
              <a:buFontTx/>
              <a:buChar char="-"/>
            </a:pPr>
            <a:r>
              <a:rPr lang="vi-VN" smtClean="0">
                <a:latin typeface="Calibri Light" panose="020F0302020204030204" pitchFamily="34" charset="0"/>
                <a:cs typeface="Calibri Light" panose="020F0302020204030204" pitchFamily="34" charset="0"/>
              </a:rPr>
              <a:t>Có 84 Availability Zone tổ chức thành 26 AWS Region</a:t>
            </a:r>
            <a:r>
              <a:rPr lang="en-US">
                <a:latin typeface="Calibri Light" panose="020F0302020204030204" pitchFamily="34" charset="0"/>
                <a:cs typeface="Calibri Light" panose="020F0302020204030204" pitchFamily="34" charset="0"/>
              </a:rPr>
              <a:t> </a:t>
            </a:r>
            <a:r>
              <a:rPr lang="en-US" smtClean="0">
                <a:latin typeface="Calibri Light" panose="020F0302020204030204" pitchFamily="34" charset="0"/>
                <a:cs typeface="Calibri Light" panose="020F0302020204030204" pitchFamily="34" charset="0"/>
              </a:rPr>
              <a:t>(2 </a:t>
            </a:r>
            <a:r>
              <a:rPr lang="vi-VN" smtClean="0">
                <a:latin typeface="Calibri Light" panose="020F0302020204030204" pitchFamily="34" charset="0"/>
                <a:cs typeface="Calibri Light" panose="020F0302020204030204" pitchFamily="34" charset="0"/>
              </a:rPr>
              <a:t>ở </a:t>
            </a:r>
            <a:r>
              <a:rPr lang="en-US" altLang="ja-JP" smtClean="0">
                <a:latin typeface="Calibri Light" panose="020F0302020204030204" pitchFamily="34" charset="0"/>
                <a:cs typeface="Calibri Light" panose="020F0302020204030204" pitchFamily="34" charset="0"/>
              </a:rPr>
              <a:t>Japan</a:t>
            </a:r>
            <a:r>
              <a:rPr lang="en-US" smtClean="0">
                <a:latin typeface="Calibri Light" panose="020F0302020204030204" pitchFamily="34" charset="0"/>
                <a:cs typeface="Calibri Light" panose="020F0302020204030204" pitchFamily="34" charset="0"/>
              </a:rPr>
              <a:t>)</a:t>
            </a:r>
            <a:endParaRPr lang="vi-VN" smtClean="0">
              <a:latin typeface="Calibri Light" panose="020F0302020204030204" pitchFamily="34" charset="0"/>
              <a:cs typeface="Calibri Light" panose="020F0302020204030204" pitchFamily="34" charset="0"/>
            </a:endParaRPr>
          </a:p>
          <a:p>
            <a:endParaRPr lang="vi-VN" smtClean="0">
              <a:latin typeface="Calibri Light" panose="020F0302020204030204" pitchFamily="34" charset="0"/>
              <a:cs typeface="Calibri Light" panose="020F0302020204030204" pitchFamily="34" charset="0"/>
            </a:endParaRPr>
          </a:p>
          <a:p>
            <a:r>
              <a:rPr lang="vi-VN" b="1" u="sng" smtClean="0">
                <a:latin typeface="Calibri Light" panose="020F0302020204030204" pitchFamily="34" charset="0"/>
                <a:cs typeface="Calibri Light" panose="020F0302020204030204" pitchFamily="34" charset="0"/>
              </a:rPr>
              <a:t>AWS Dùng Làm Gì?</a:t>
            </a:r>
          </a:p>
          <a:p>
            <a:pPr marL="285750" indent="-285750">
              <a:buFontTx/>
              <a:buChar char="-"/>
            </a:pPr>
            <a:r>
              <a:rPr lang="vi-VN">
                <a:latin typeface="Calibri Light" panose="020F0302020204030204" pitchFamily="34" charset="0"/>
                <a:cs typeface="Calibri Light" panose="020F0302020204030204" pitchFamily="34" charset="0"/>
              </a:rPr>
              <a:t>C</a:t>
            </a:r>
            <a:r>
              <a:rPr lang="vi-VN" smtClean="0">
                <a:latin typeface="Calibri Light" panose="020F0302020204030204" pitchFamily="34" charset="0"/>
                <a:cs typeface="Calibri Light" panose="020F0302020204030204" pitchFamily="34" charset="0"/>
              </a:rPr>
              <a:t>ung cấp cho doanh nghiệp những giải pháp về storage, computing power, database hay developer tools,…</a:t>
            </a:r>
          </a:p>
          <a:p>
            <a:endParaRPr lang="en-US">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smtClean="0">
                <a:latin typeface="Calibri Light" panose="020F0302020204030204" pitchFamily="34" charset="0"/>
                <a:cs typeface="Calibri Light" panose="020F0302020204030204" pitchFamily="34" charset="0"/>
              </a:rPr>
              <a:t>Giới </a:t>
            </a:r>
            <a:r>
              <a:rPr lang="en-US" altLang="ja-JP" sz="3600" smtClean="0">
                <a:latin typeface="Calibri Light" panose="020F0302020204030204" pitchFamily="34" charset="0"/>
                <a:cs typeface="Calibri Light" panose="020F0302020204030204" pitchFamily="34" charset="0"/>
              </a:rPr>
              <a:t>thiệu </a:t>
            </a:r>
            <a:r>
              <a:rPr lang="vi-VN" altLang="ja-JP" sz="3600" smtClean="0">
                <a:latin typeface="Calibri Light" panose="020F0302020204030204" pitchFamily="34" charset="0"/>
                <a:cs typeface="Calibri Light" panose="020F0302020204030204" pitchFamily="34" charset="0"/>
              </a:rPr>
              <a:t>về AWS</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2050" name="Picture 2" descr="https://www.kcsitglobal.com/images/aws-graphic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5829" y="1736437"/>
            <a:ext cx="4320000" cy="361552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7B7897BD-48E5-4DA5-B5A0-A5A7EEEB98D5}" type="slidenum">
              <a:rPr lang="en-US" smtClean="0"/>
              <a:t>3</a:t>
            </a:fld>
            <a:endParaRPr lang="en-US"/>
          </a:p>
        </p:txBody>
      </p:sp>
    </p:spTree>
    <p:extLst>
      <p:ext uri="{BB962C8B-B14F-4D97-AF65-F5344CB8AC3E}">
        <p14:creationId xmlns:p14="http://schemas.microsoft.com/office/powerpoint/2010/main" val="2385061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291" y="1736437"/>
            <a:ext cx="5163128" cy="3416320"/>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Tại Sao Nhiều D</a:t>
            </a:r>
            <a:r>
              <a:rPr lang="en-US" b="1" u="sng" smtClean="0">
                <a:latin typeface="Calibri Light" panose="020F0302020204030204" pitchFamily="34" charset="0"/>
                <a:cs typeface="Calibri Light" panose="020F0302020204030204" pitchFamily="34" charset="0"/>
              </a:rPr>
              <a:t>oanh </a:t>
            </a:r>
            <a:r>
              <a:rPr lang="vi-VN" b="1" u="sng" smtClean="0">
                <a:latin typeface="Calibri Light" panose="020F0302020204030204" pitchFamily="34" charset="0"/>
                <a:cs typeface="Calibri Light" panose="020F0302020204030204" pitchFamily="34" charset="0"/>
              </a:rPr>
              <a:t>Nghiệp Dùng AWS?</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Tiết kiệm chi phí</a:t>
            </a:r>
            <a:r>
              <a:rPr lang="en-US" smtClean="0">
                <a:latin typeface="Calibri Light" panose="020F0302020204030204" pitchFamily="34" charset="0"/>
                <a:cs typeface="Calibri Light" panose="020F0302020204030204" pitchFamily="34" charset="0"/>
              </a:rPr>
              <a:t> : Dùng bao nhiêu tính bấy nhiêu, luôn dự đoán và quản lý triệt để chi phí</a:t>
            </a:r>
          </a:p>
          <a:p>
            <a:pPr marL="285750" indent="-285750">
              <a:buFontTx/>
              <a:buChar char="-"/>
            </a:pPr>
            <a:r>
              <a:rPr lang="vi-VN" smtClean="0">
                <a:latin typeface="Calibri Light" panose="020F0302020204030204" pitchFamily="34" charset="0"/>
                <a:cs typeface="Calibri Light" panose="020F0302020204030204" pitchFamily="34" charset="0"/>
              </a:rPr>
              <a:t>Hạ tầng của AWS: Luôn có sẵn sàng</a:t>
            </a:r>
            <a:endParaRPr lang="en-US" smtClean="0">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Phần cứng của AWS:</a:t>
            </a:r>
            <a:r>
              <a:rPr lang="en-US" smtClean="0">
                <a:latin typeface="Calibri Light" panose="020F0302020204030204" pitchFamily="34" charset="0"/>
                <a:cs typeface="Calibri Light" panose="020F0302020204030204" pitchFamily="34" charset="0"/>
              </a:rPr>
              <a:t> theo tiêu chuẩn công nghiệp cao nhất</a:t>
            </a:r>
            <a:endParaRPr lang="vi-VN" smtClean="0">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Dịch vụ của AWS: Đầy đủ chức năng nhất</a:t>
            </a:r>
          </a:p>
          <a:p>
            <a:pPr marL="285750" indent="-285750">
              <a:buFontTx/>
              <a:buChar char="-"/>
            </a:pPr>
            <a:r>
              <a:rPr lang="vi-VN" smtClean="0">
                <a:latin typeface="Calibri Light" panose="020F0302020204030204" pitchFamily="34" charset="0"/>
                <a:cs typeface="Calibri Light" panose="020F0302020204030204" pitchFamily="34" charset="0"/>
              </a:rPr>
              <a:t>Nhân sự của doanh nghiệp: Tối ưu chi phí nhưng vẫn tăng hiệu quả kinh doanh</a:t>
            </a:r>
          </a:p>
          <a:p>
            <a:endParaRPr lang="vi-VN"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smtClean="0">
                <a:latin typeface="Calibri Light" panose="020F0302020204030204" pitchFamily="34" charset="0"/>
                <a:cs typeface="Calibri Light" panose="020F0302020204030204" pitchFamily="34" charset="0"/>
              </a:rPr>
              <a:t>Giới </a:t>
            </a:r>
            <a:r>
              <a:rPr lang="en-US" altLang="ja-JP" sz="3600" smtClean="0">
                <a:latin typeface="Calibri Light" panose="020F0302020204030204" pitchFamily="34" charset="0"/>
                <a:cs typeface="Calibri Light" panose="020F0302020204030204" pitchFamily="34" charset="0"/>
              </a:rPr>
              <a:t>thiệu </a:t>
            </a:r>
            <a:r>
              <a:rPr lang="vi-VN" altLang="ja-JP" sz="3600" smtClean="0">
                <a:latin typeface="Calibri Light" panose="020F0302020204030204" pitchFamily="34" charset="0"/>
                <a:cs typeface="Calibri Light" panose="020F0302020204030204" pitchFamily="34" charset="0"/>
              </a:rPr>
              <a:t>về AWS</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stretch>
            <a:fillRect/>
          </a:stretch>
        </p:blipFill>
        <p:spPr>
          <a:xfrm>
            <a:off x="6917603" y="1100767"/>
            <a:ext cx="4320000" cy="4687660"/>
          </a:xfrm>
          <a:prstGeom prst="rect">
            <a:avLst/>
          </a:prstGeom>
        </p:spPr>
      </p:pic>
      <p:sp>
        <p:nvSpPr>
          <p:cNvPr id="7" name="Slide Number Placeholder 6"/>
          <p:cNvSpPr>
            <a:spLocks noGrp="1"/>
          </p:cNvSpPr>
          <p:nvPr>
            <p:ph type="sldNum" sz="quarter" idx="12"/>
          </p:nvPr>
        </p:nvSpPr>
        <p:spPr/>
        <p:txBody>
          <a:bodyPr/>
          <a:lstStyle/>
          <a:p>
            <a:fld id="{7B7897BD-48E5-4DA5-B5A0-A5A7EEEB98D5}" type="slidenum">
              <a:rPr lang="en-US" smtClean="0"/>
              <a:t>4</a:t>
            </a:fld>
            <a:endParaRPr lang="en-US"/>
          </a:p>
        </p:txBody>
      </p:sp>
    </p:spTree>
    <p:extLst>
      <p:ext uri="{BB962C8B-B14F-4D97-AF65-F5344CB8AC3E}">
        <p14:creationId xmlns:p14="http://schemas.microsoft.com/office/powerpoint/2010/main" val="1894295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291" y="1736437"/>
            <a:ext cx="5486400" cy="1200329"/>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Làm Sao Để Sử Dụng AWS?</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Để </a:t>
            </a:r>
            <a:r>
              <a:rPr lang="vi-VN">
                <a:latin typeface="Calibri Light" panose="020F0302020204030204" pitchFamily="34" charset="0"/>
                <a:cs typeface="Calibri Light" panose="020F0302020204030204" pitchFamily="34" charset="0"/>
              </a:rPr>
              <a:t>hiểu và sử dụng thành thục về AWS thì cách tốt nhất là học và thi các chứng </a:t>
            </a:r>
            <a:r>
              <a:rPr lang="vi-VN" smtClean="0">
                <a:latin typeface="Calibri Light" panose="020F0302020204030204" pitchFamily="34" charset="0"/>
                <a:cs typeface="Calibri Light" panose="020F0302020204030204" pitchFamily="34" charset="0"/>
              </a:rPr>
              <a:t>chỉ AWS Certification.</a:t>
            </a: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smtClean="0">
                <a:latin typeface="Calibri Light" panose="020F0302020204030204" pitchFamily="34" charset="0"/>
                <a:cs typeface="Calibri Light" panose="020F0302020204030204" pitchFamily="34" charset="0"/>
              </a:rPr>
              <a:t>Giới </a:t>
            </a:r>
            <a:r>
              <a:rPr lang="en-US" altLang="ja-JP" sz="3600" smtClean="0">
                <a:latin typeface="Calibri Light" panose="020F0302020204030204" pitchFamily="34" charset="0"/>
                <a:cs typeface="Calibri Light" panose="020F0302020204030204" pitchFamily="34" charset="0"/>
              </a:rPr>
              <a:t>thiệu </a:t>
            </a:r>
            <a:r>
              <a:rPr lang="vi-VN" altLang="ja-JP" sz="3600" smtClean="0">
                <a:latin typeface="Calibri Light" panose="020F0302020204030204" pitchFamily="34" charset="0"/>
                <a:cs typeface="Calibri Light" panose="020F0302020204030204" pitchFamily="34" charset="0"/>
              </a:rPr>
              <a:t>về AWS</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7B7897BD-48E5-4DA5-B5A0-A5A7EEEB98D5}" type="slidenum">
              <a:rPr lang="en-US" smtClean="0"/>
              <a:t>5</a:t>
            </a:fld>
            <a:endParaRPr lang="en-US"/>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736437"/>
            <a:ext cx="5760000" cy="4112291"/>
          </a:xfrm>
          <a:prstGeom prst="rect">
            <a:avLst/>
          </a:prstGeom>
        </p:spPr>
      </p:pic>
    </p:spTree>
    <p:extLst>
      <p:ext uri="{BB962C8B-B14F-4D97-AF65-F5344CB8AC3E}">
        <p14:creationId xmlns:p14="http://schemas.microsoft.com/office/powerpoint/2010/main" val="1039565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291" y="1736437"/>
            <a:ext cx="5486400" cy="3416320"/>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AWS Certification Là Gì?</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Chứng </a:t>
            </a:r>
            <a:r>
              <a:rPr lang="vi-VN">
                <a:latin typeface="Calibri Light" panose="020F0302020204030204" pitchFamily="34" charset="0"/>
                <a:cs typeface="Calibri Light" panose="020F0302020204030204" pitchFamily="34" charset="0"/>
              </a:rPr>
              <a:t>chỉ AWS – AWS Certification là bộ chứng chỉ được cấp bởi Amazon đánh giá mức độ hiểu biết về Cloud </a:t>
            </a:r>
            <a:r>
              <a:rPr lang="en-US" smtClean="0">
                <a:latin typeface="Calibri Light" panose="020F0302020204030204" pitchFamily="34" charset="0"/>
                <a:cs typeface="Calibri Light" panose="020F0302020204030204" pitchFamily="34" charset="0"/>
              </a:rPr>
              <a:t>Computing</a:t>
            </a:r>
            <a:r>
              <a:rPr lang="vi-VN" smtClean="0">
                <a:latin typeface="Calibri Light" panose="020F0302020204030204" pitchFamily="34" charset="0"/>
                <a:cs typeface="Calibri Light" panose="020F0302020204030204" pitchFamily="34" charset="0"/>
              </a:rPr>
              <a:t>, </a:t>
            </a:r>
            <a:r>
              <a:rPr lang="vi-VN">
                <a:latin typeface="Calibri Light" panose="020F0302020204030204" pitchFamily="34" charset="0"/>
                <a:cs typeface="Calibri Light" panose="020F0302020204030204" pitchFamily="34" charset="0"/>
              </a:rPr>
              <a:t>cụ thể là các dịch vụ của Amazon Web Services (AWS) cũng như việc áp dụng các dịch vụ đó 1 cách hiệu quả vào trong các bài toán thực tế</a:t>
            </a:r>
            <a:r>
              <a:rPr lang="vi-VN" smtClean="0">
                <a:latin typeface="Calibri Light" panose="020F0302020204030204" pitchFamily="34" charset="0"/>
                <a:cs typeface="Calibri Light" panose="020F0302020204030204" pitchFamily="34" charset="0"/>
              </a:rPr>
              <a:t>.</a:t>
            </a:r>
            <a:endParaRPr lang="en-US" smtClean="0">
              <a:latin typeface="Calibri Light" panose="020F0302020204030204" pitchFamily="34" charset="0"/>
              <a:cs typeface="Calibri Light" panose="020F0302020204030204" pitchFamily="34" charset="0"/>
            </a:endParaRPr>
          </a:p>
          <a:p>
            <a:pPr marL="285750" indent="-285750">
              <a:buFontTx/>
              <a:buChar char="-"/>
            </a:pPr>
            <a:r>
              <a:rPr lang="vi-VN">
                <a:latin typeface="Calibri Light" panose="020F0302020204030204" pitchFamily="34" charset="0"/>
                <a:cs typeface="Calibri Light" panose="020F0302020204030204" pitchFamily="34" charset="0"/>
              </a:rPr>
              <a:t>Hệ thống chứng chỉ AWS được chia ra theo các vai trò là </a:t>
            </a:r>
            <a:endParaRPr lang="en-US" smtClean="0">
              <a:latin typeface="Calibri Light" panose="020F0302020204030204" pitchFamily="34" charset="0"/>
              <a:cs typeface="Calibri Light" panose="020F0302020204030204" pitchFamily="34" charset="0"/>
            </a:endParaRPr>
          </a:p>
          <a:p>
            <a:pPr marL="742950" lvl="1" indent="-285750">
              <a:buFontTx/>
              <a:buChar char="-"/>
            </a:pPr>
            <a:r>
              <a:rPr lang="vi-VN" smtClean="0">
                <a:latin typeface="Calibri Light" panose="020F0302020204030204" pitchFamily="34" charset="0"/>
                <a:cs typeface="Calibri Light" panose="020F0302020204030204" pitchFamily="34" charset="0"/>
              </a:rPr>
              <a:t>Cloud Practitioner</a:t>
            </a:r>
            <a:endParaRPr lang="en-US">
              <a:latin typeface="Calibri Light" panose="020F0302020204030204" pitchFamily="34" charset="0"/>
              <a:cs typeface="Calibri Light" panose="020F0302020204030204" pitchFamily="34" charset="0"/>
            </a:endParaRPr>
          </a:p>
          <a:p>
            <a:pPr marL="742950" lvl="1" indent="-285750">
              <a:buFontTx/>
              <a:buChar char="-"/>
            </a:pPr>
            <a:r>
              <a:rPr lang="vi-VN" smtClean="0">
                <a:latin typeface="Calibri Light" panose="020F0302020204030204" pitchFamily="34" charset="0"/>
                <a:cs typeface="Calibri Light" panose="020F0302020204030204" pitchFamily="34" charset="0"/>
              </a:rPr>
              <a:t>Architect</a:t>
            </a:r>
            <a:r>
              <a:rPr lang="en-US" smtClean="0">
                <a:latin typeface="Calibri Light" panose="020F0302020204030204" pitchFamily="34" charset="0"/>
                <a:cs typeface="Calibri Light" panose="020F0302020204030204" pitchFamily="34" charset="0"/>
              </a:rPr>
              <a:t>, </a:t>
            </a:r>
            <a:r>
              <a:rPr lang="vi-VN" smtClean="0">
                <a:latin typeface="Calibri Light" panose="020F0302020204030204" pitchFamily="34" charset="0"/>
                <a:cs typeface="Calibri Light" panose="020F0302020204030204" pitchFamily="34" charset="0"/>
              </a:rPr>
              <a:t>Developer </a:t>
            </a:r>
            <a:r>
              <a:rPr lang="vi-VN">
                <a:latin typeface="Calibri Light" panose="020F0302020204030204" pitchFamily="34" charset="0"/>
                <a:cs typeface="Calibri Light" panose="020F0302020204030204" pitchFamily="34" charset="0"/>
              </a:rPr>
              <a:t>và </a:t>
            </a:r>
            <a:r>
              <a:rPr lang="vi-VN" smtClean="0">
                <a:latin typeface="Calibri Light" panose="020F0302020204030204" pitchFamily="34" charset="0"/>
                <a:cs typeface="Calibri Light" panose="020F0302020204030204" pitchFamily="34" charset="0"/>
              </a:rPr>
              <a:t>Operations</a:t>
            </a:r>
            <a:endParaRPr lang="en-US" smtClean="0">
              <a:latin typeface="Calibri Light" panose="020F0302020204030204" pitchFamily="34" charset="0"/>
              <a:cs typeface="Calibri Light" panose="020F0302020204030204" pitchFamily="34" charset="0"/>
            </a:endParaRPr>
          </a:p>
          <a:p>
            <a:pPr marL="742950" lvl="1" indent="-285750">
              <a:buFontTx/>
              <a:buChar char="-"/>
            </a:pPr>
            <a:r>
              <a:rPr lang="en-US">
                <a:latin typeface="Calibri Light" panose="020F0302020204030204" pitchFamily="34" charset="0"/>
                <a:cs typeface="Calibri Light" panose="020F0302020204030204" pitchFamily="34" charset="0"/>
              </a:rPr>
              <a:t>N</a:t>
            </a:r>
            <a:r>
              <a:rPr lang="vi-VN" smtClean="0">
                <a:latin typeface="Calibri Light" panose="020F0302020204030204" pitchFamily="34" charset="0"/>
                <a:cs typeface="Calibri Light" panose="020F0302020204030204" pitchFamily="34" charset="0"/>
              </a:rPr>
              <a:t>goài </a:t>
            </a:r>
            <a:r>
              <a:rPr lang="vi-VN">
                <a:latin typeface="Calibri Light" panose="020F0302020204030204" pitchFamily="34" charset="0"/>
                <a:cs typeface="Calibri Light" panose="020F0302020204030204" pitchFamily="34" charset="0"/>
              </a:rPr>
              <a:t>ra cộng thêm Specialty.</a:t>
            </a:r>
            <a:endParaRPr lang="vi-VN" smtClean="0">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smtClean="0">
                <a:latin typeface="Calibri Light" panose="020F0302020204030204" pitchFamily="34" charset="0"/>
                <a:cs typeface="Calibri Light" panose="020F0302020204030204" pitchFamily="34" charset="0"/>
              </a:rPr>
              <a:t>Giới </a:t>
            </a:r>
            <a:r>
              <a:rPr lang="en-US" altLang="ja-JP" sz="3600" smtClean="0">
                <a:latin typeface="Calibri Light" panose="020F0302020204030204" pitchFamily="34" charset="0"/>
                <a:cs typeface="Calibri Light" panose="020F0302020204030204" pitchFamily="34" charset="0"/>
              </a:rPr>
              <a:t>thiệu </a:t>
            </a:r>
            <a:r>
              <a:rPr lang="vi-VN" altLang="ja-JP" sz="3600" smtClean="0">
                <a:latin typeface="Calibri Light" panose="020F0302020204030204" pitchFamily="34" charset="0"/>
                <a:cs typeface="Calibri Light" panose="020F0302020204030204" pitchFamily="34" charset="0"/>
              </a:rPr>
              <a:t>về AWS </a:t>
            </a:r>
            <a:r>
              <a:rPr lang="vi-VN" sz="3600">
                <a:latin typeface="Calibri Light" panose="020F0302020204030204" pitchFamily="34" charset="0"/>
                <a:cs typeface="Calibri Light" panose="020F0302020204030204" pitchFamily="34" charset="0"/>
              </a:rPr>
              <a:t>Certification</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6</a:t>
            </a:fld>
            <a:endParaRPr lang="en-US"/>
          </a:p>
        </p:txBody>
      </p:sp>
      <p:pic>
        <p:nvPicPr>
          <p:cNvPr id="1028" name="Picture 4" descr="https://uploads-ssl.webflow.com/5e1f17bab0dc6527c1ecc801/5eaec3009268706332a01b59_s-16.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736437"/>
            <a:ext cx="5760000" cy="3295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591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291" y="1203162"/>
            <a:ext cx="5486400" cy="4801314"/>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AWS Certification Có Khó Không?</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r>
              <a:rPr lang="vi-VN">
                <a:latin typeface="Calibri Light" panose="020F0302020204030204" pitchFamily="34" charset="0"/>
                <a:cs typeface="Calibri Light" panose="020F0302020204030204" pitchFamily="34" charset="0"/>
              </a:rPr>
              <a:t>Về mức độ khó thì có 3 mức độ là Foundational, Associate và Professional.</a:t>
            </a:r>
          </a:p>
          <a:p>
            <a:pPr marL="285750" indent="-285750">
              <a:buFontTx/>
              <a:buChar char="-"/>
            </a:pPr>
            <a:endParaRPr lang="vi-VN">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Foundational </a:t>
            </a:r>
            <a:r>
              <a:rPr lang="vi-VN">
                <a:latin typeface="Calibri Light" panose="020F0302020204030204" pitchFamily="34" charset="0"/>
                <a:cs typeface="Calibri Light" panose="020F0302020204030204" pitchFamily="34" charset="0"/>
              </a:rPr>
              <a:t>(Cơ bản): Cần có ít nhất 6 tháng kinh nghiệm ở vị trí bất kỳ với kiến thức cơ bản về AWS </a:t>
            </a:r>
            <a:r>
              <a:rPr lang="vi-VN" smtClean="0">
                <a:latin typeface="Calibri Light" panose="020F0302020204030204" pitchFamily="34" charset="0"/>
                <a:cs typeface="Calibri Light" panose="020F0302020204030204" pitchFamily="34" charset="0"/>
              </a:rPr>
              <a:t>Cloud.</a:t>
            </a:r>
          </a:p>
          <a:p>
            <a:pPr marL="285750" indent="-285750">
              <a:buFontTx/>
              <a:buChar char="-"/>
            </a:pPr>
            <a:r>
              <a:rPr lang="vi-VN" smtClean="0">
                <a:latin typeface="Calibri Light" panose="020F0302020204030204" pitchFamily="34" charset="0"/>
                <a:cs typeface="Calibri Light" panose="020F0302020204030204" pitchFamily="34" charset="0"/>
              </a:rPr>
              <a:t>Associate </a:t>
            </a:r>
            <a:r>
              <a:rPr lang="vi-VN">
                <a:latin typeface="Calibri Light" panose="020F0302020204030204" pitchFamily="34" charset="0"/>
                <a:cs typeface="Calibri Light" panose="020F0302020204030204" pitchFamily="34" charset="0"/>
              </a:rPr>
              <a:t>(Hội viên): Có khoảng 1 năm kinh nghiệm giải quyết vấn đề và triển khai giải pháp sử dụng AWS </a:t>
            </a:r>
            <a:r>
              <a:rPr lang="vi-VN" smtClean="0">
                <a:latin typeface="Calibri Light" panose="020F0302020204030204" pitchFamily="34" charset="0"/>
                <a:cs typeface="Calibri Light" panose="020F0302020204030204" pitchFamily="34" charset="0"/>
              </a:rPr>
              <a:t>Cloud.</a:t>
            </a:r>
          </a:p>
          <a:p>
            <a:pPr marL="285750" indent="-285750">
              <a:buFontTx/>
              <a:buChar char="-"/>
            </a:pPr>
            <a:r>
              <a:rPr lang="vi-VN" smtClean="0">
                <a:latin typeface="Calibri Light" panose="020F0302020204030204" pitchFamily="34" charset="0"/>
                <a:cs typeface="Calibri Light" panose="020F0302020204030204" pitchFamily="34" charset="0"/>
              </a:rPr>
              <a:t>Professional </a:t>
            </a:r>
            <a:r>
              <a:rPr lang="vi-VN">
                <a:latin typeface="Calibri Light" panose="020F0302020204030204" pitchFamily="34" charset="0"/>
                <a:cs typeface="Calibri Light" panose="020F0302020204030204" pitchFamily="34" charset="0"/>
              </a:rPr>
              <a:t>(Chuyên Nghiệp): Có ít khoảng 2 năm kinh nghiệm toàn diện trong việc thiết kế, vận hành và các giải pháp khắc phục sự cố sử dụng AWS </a:t>
            </a:r>
            <a:r>
              <a:rPr lang="vi-VN" smtClean="0">
                <a:latin typeface="Calibri Light" panose="020F0302020204030204" pitchFamily="34" charset="0"/>
                <a:cs typeface="Calibri Light" panose="020F0302020204030204" pitchFamily="34" charset="0"/>
              </a:rPr>
              <a:t>Cloud.</a:t>
            </a:r>
          </a:p>
          <a:p>
            <a:pPr marL="285750" indent="-285750">
              <a:buFontTx/>
              <a:buChar char="-"/>
            </a:pPr>
            <a:r>
              <a:rPr lang="vi-VN" smtClean="0">
                <a:latin typeface="Calibri Light" panose="020F0302020204030204" pitchFamily="34" charset="0"/>
                <a:cs typeface="Calibri Light" panose="020F0302020204030204" pitchFamily="34" charset="0"/>
              </a:rPr>
              <a:t>Specialty </a:t>
            </a:r>
            <a:r>
              <a:rPr lang="vi-VN">
                <a:latin typeface="Calibri Light" panose="020F0302020204030204" pitchFamily="34" charset="0"/>
                <a:cs typeface="Calibri Light" panose="020F0302020204030204" pitchFamily="34" charset="0"/>
              </a:rPr>
              <a:t>(Chuyên môn): Có kinh nghiệm kỹ thuật làm việc với AWS Cloud trong lĩnh vực chuyên môn nhất định</a:t>
            </a:r>
            <a:r>
              <a:rPr lang="vi-VN" smtClean="0">
                <a:latin typeface="Calibri Light" panose="020F0302020204030204" pitchFamily="34" charset="0"/>
                <a:cs typeface="Calibri Light" panose="020F0302020204030204" pitchFamily="34" charset="0"/>
              </a:rPr>
              <a:t>.</a:t>
            </a:r>
            <a:endParaRPr lang="vi-VN">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smtClean="0">
                <a:latin typeface="Calibri Light" panose="020F0302020204030204" pitchFamily="34" charset="0"/>
                <a:cs typeface="Calibri Light" panose="020F0302020204030204" pitchFamily="34" charset="0"/>
              </a:rPr>
              <a:t>Giới </a:t>
            </a:r>
            <a:r>
              <a:rPr lang="en-US" altLang="ja-JP" sz="3600" smtClean="0">
                <a:latin typeface="Calibri Light" panose="020F0302020204030204" pitchFamily="34" charset="0"/>
                <a:cs typeface="Calibri Light" panose="020F0302020204030204" pitchFamily="34" charset="0"/>
              </a:rPr>
              <a:t>thiệu </a:t>
            </a:r>
            <a:r>
              <a:rPr lang="vi-VN" altLang="ja-JP" sz="3600" smtClean="0">
                <a:latin typeface="Calibri Light" panose="020F0302020204030204" pitchFamily="34" charset="0"/>
                <a:cs typeface="Calibri Light" panose="020F0302020204030204" pitchFamily="34" charset="0"/>
              </a:rPr>
              <a:t>về AWS </a:t>
            </a:r>
            <a:r>
              <a:rPr lang="vi-VN" sz="3600">
                <a:latin typeface="Calibri Light" panose="020F0302020204030204" pitchFamily="34" charset="0"/>
                <a:cs typeface="Calibri Light" panose="020F0302020204030204" pitchFamily="34" charset="0"/>
              </a:rPr>
              <a:t>Certification</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7</a:t>
            </a:fld>
            <a:endParaRPr lang="en-US"/>
          </a:p>
        </p:txBody>
      </p:sp>
      <p:pic>
        <p:nvPicPr>
          <p:cNvPr id="1028" name="Picture 4" descr="https://uploads-ssl.webflow.com/5e1f17bab0dc6527c1ecc801/5eaec3009268706332a01b59_s-16.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736437"/>
            <a:ext cx="5760000" cy="3295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0027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291" y="1736437"/>
            <a:ext cx="5486400" cy="1477328"/>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Lấy Chứng Chỉ AWS Như Thế Nào?</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Kinh nghiệm làm việc thực tế và tham gia kỳ thi do AWS tổ chức.</a:t>
            </a:r>
          </a:p>
          <a:p>
            <a:pPr marL="285750" indent="-285750">
              <a:buFontTx/>
              <a:buChar char="-"/>
            </a:pPr>
            <a:r>
              <a:rPr lang="vi-VN" smtClean="0">
                <a:latin typeface="Calibri Light" panose="020F0302020204030204" pitchFamily="34" charset="0"/>
                <a:cs typeface="Calibri Light" panose="020F0302020204030204" pitchFamily="34" charset="0"/>
              </a:rPr>
              <a:t>Bắt đầu từ AWS Cloud Practicioner.</a:t>
            </a: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smtClean="0">
                <a:latin typeface="Calibri Light" panose="020F0302020204030204" pitchFamily="34" charset="0"/>
                <a:cs typeface="Calibri Light" panose="020F0302020204030204" pitchFamily="34" charset="0"/>
              </a:rPr>
              <a:t>Giới </a:t>
            </a:r>
            <a:r>
              <a:rPr lang="en-US" altLang="ja-JP" sz="3600" smtClean="0">
                <a:latin typeface="Calibri Light" panose="020F0302020204030204" pitchFamily="34" charset="0"/>
                <a:cs typeface="Calibri Light" panose="020F0302020204030204" pitchFamily="34" charset="0"/>
              </a:rPr>
              <a:t>thiệu </a:t>
            </a:r>
            <a:r>
              <a:rPr lang="vi-VN" altLang="ja-JP" sz="3600" smtClean="0">
                <a:latin typeface="Calibri Light" panose="020F0302020204030204" pitchFamily="34" charset="0"/>
                <a:cs typeface="Calibri Light" panose="020F0302020204030204" pitchFamily="34" charset="0"/>
              </a:rPr>
              <a:t>về AWS </a:t>
            </a:r>
            <a:r>
              <a:rPr lang="vi-VN" sz="3600">
                <a:latin typeface="Calibri Light" panose="020F0302020204030204" pitchFamily="34" charset="0"/>
                <a:cs typeface="Calibri Light" panose="020F0302020204030204" pitchFamily="34" charset="0"/>
              </a:rPr>
              <a:t>Certification</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8</a:t>
            </a:fld>
            <a:endParaRPr lang="en-US"/>
          </a:p>
        </p:txBody>
      </p:sp>
      <p:pic>
        <p:nvPicPr>
          <p:cNvPr id="1026" name="Picture 2" descr="https://miro.medium.com/max/1024/1*2fyw9zqntb47qCnXcuSLt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523657"/>
            <a:ext cx="5760000" cy="44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6515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291" y="1203162"/>
            <a:ext cx="5486400" cy="3970318"/>
          </a:xfrm>
          <a:prstGeom prst="rect">
            <a:avLst/>
          </a:prstGeom>
          <a:noFill/>
        </p:spPr>
        <p:txBody>
          <a:bodyPr wrap="square" rtlCol="0">
            <a:spAutoFit/>
          </a:bodyPr>
          <a:lstStyle/>
          <a:p>
            <a:r>
              <a:rPr lang="vi-VN" b="1" u="sng">
                <a:latin typeface="Calibri Light" panose="020F0302020204030204" pitchFamily="34" charset="0"/>
                <a:cs typeface="Calibri Light" panose="020F0302020204030204" pitchFamily="34" charset="0"/>
              </a:rPr>
              <a:t>AWS Cloud Practicioner</a:t>
            </a:r>
            <a:r>
              <a:rPr lang="en-US" b="1" u="sng">
                <a:latin typeface="Calibri Light" panose="020F0302020204030204" pitchFamily="34" charset="0"/>
                <a:cs typeface="Calibri Light" panose="020F0302020204030204" pitchFamily="34" charset="0"/>
              </a:rPr>
              <a:t> </a:t>
            </a:r>
            <a:r>
              <a:rPr lang="vi-VN" b="1" u="sng">
                <a:latin typeface="Calibri Light" panose="020F0302020204030204" pitchFamily="34" charset="0"/>
                <a:cs typeface="Calibri Light" panose="020F0302020204030204" pitchFamily="34" charset="0"/>
              </a:rPr>
              <a:t>Là Gì?</a:t>
            </a:r>
            <a:endParaRPr lang="en-US" b="1" u="sng">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a:latin typeface="Calibri Light" panose="020F0302020204030204" pitchFamily="34" charset="0"/>
                <a:cs typeface="Calibri Light" panose="020F0302020204030204" pitchFamily="34" charset="0"/>
              </a:rPr>
              <a:t>Là chứng chỉ chứng nhận cho bất kỳ ai có kiến thức cơ bản về nền tảng AWS.</a:t>
            </a:r>
          </a:p>
          <a:p>
            <a:pPr marL="285750" indent="-285750">
              <a:buFontTx/>
              <a:buChar char="-"/>
            </a:pPr>
            <a:r>
              <a:rPr lang="vi-VN">
                <a:latin typeface="Calibri Light" panose="020F0302020204030204" pitchFamily="34" charset="0"/>
                <a:cs typeface="Calibri Light" panose="020F0302020204030204" pitchFamily="34" charset="0"/>
              </a:rPr>
              <a:t>Việc đạt được AWS Certified Cloud Practitioner sẽ xác thực mức độ thành thạo về đám mây và kiến thức nền tảng về AWS.</a:t>
            </a:r>
          </a:p>
          <a:p>
            <a:endParaRPr lang="vi-VN">
              <a:latin typeface="Calibri Light" panose="020F0302020204030204" pitchFamily="34" charset="0"/>
              <a:cs typeface="Calibri Light" panose="020F0302020204030204" pitchFamily="34" charset="0"/>
            </a:endParaRPr>
          </a:p>
          <a:p>
            <a:r>
              <a:rPr lang="vi-VN" b="1" u="sng" smtClean="0">
                <a:latin typeface="Calibri Light" panose="020F0302020204030204" pitchFamily="34" charset="0"/>
                <a:cs typeface="Calibri Light" panose="020F0302020204030204" pitchFamily="34" charset="0"/>
              </a:rPr>
              <a:t>Yêu </a:t>
            </a:r>
            <a:r>
              <a:rPr lang="vi-VN" b="1" u="sng">
                <a:latin typeface="Calibri Light" panose="020F0302020204030204" pitchFamily="34" charset="0"/>
                <a:cs typeface="Calibri Light" panose="020F0302020204030204" pitchFamily="34" charset="0"/>
              </a:rPr>
              <a:t>Cầu?</a:t>
            </a:r>
            <a:endParaRPr lang="en-US" b="1" u="sng">
              <a:latin typeface="Calibri Light" panose="020F0302020204030204" pitchFamily="34" charset="0"/>
              <a:cs typeface="Calibri Light" panose="020F0302020204030204" pitchFamily="34" charset="0"/>
            </a:endParaRPr>
          </a:p>
          <a:p>
            <a:pPr marL="285750" indent="-285750">
              <a:buFontTx/>
              <a:buChar char="-"/>
            </a:pPr>
            <a:r>
              <a:rPr lang="vi-VN">
                <a:latin typeface="Calibri Light" panose="020F0302020204030204" pitchFamily="34" charset="0"/>
                <a:cs typeface="Calibri Light" panose="020F0302020204030204" pitchFamily="34" charset="0"/>
              </a:rPr>
              <a:t>T</a:t>
            </a:r>
            <a:r>
              <a:rPr lang="vi-VN" smtClean="0">
                <a:latin typeface="Calibri Light" panose="020F0302020204030204" pitchFamily="34" charset="0"/>
                <a:cs typeface="Calibri Light" panose="020F0302020204030204" pitchFamily="34" charset="0"/>
              </a:rPr>
              <a:t>ham </a:t>
            </a:r>
            <a:r>
              <a:rPr lang="vi-VN">
                <a:latin typeface="Calibri Light" panose="020F0302020204030204" pitchFamily="34" charset="0"/>
                <a:cs typeface="Calibri Light" panose="020F0302020204030204" pitchFamily="34" charset="0"/>
              </a:rPr>
              <a:t>gia và vượt qua kỳ thi AWS Certified Cloud Practitioner (CLF-C01</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Kỳ thi kết hợp hai dạng câu hỏi: trắc nghiệm có một phương án trả lời đúng và trắc nghiệm có nhiều phương án trả lời đúng. </a:t>
            </a: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a:latin typeface="Calibri Light" panose="020F0302020204030204" pitchFamily="34" charset="0"/>
                <a:cs typeface="Calibri Light" panose="020F0302020204030204" pitchFamily="34" charset="0"/>
              </a:rPr>
              <a:t>AWS Cloud Practicioner </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9</a:t>
            </a:fld>
            <a:endParaRPr lang="en-US"/>
          </a:p>
        </p:txBody>
      </p:sp>
      <p:pic>
        <p:nvPicPr>
          <p:cNvPr id="8" name="Picture 2" descr="https://www.freecodecamp.org/news/content/images/2021/11/image-4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6691" y="1736437"/>
            <a:ext cx="6120000" cy="3428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7983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205597"/>
            <a:ext cx="5486400" cy="3416320"/>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Tiêu Chí Đánh Giá?</a:t>
            </a:r>
            <a:endParaRPr lang="en-US" b="1" u="sng">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Giải </a:t>
            </a:r>
            <a:r>
              <a:rPr lang="vi-VN">
                <a:latin typeface="Calibri Light" panose="020F0302020204030204" pitchFamily="34" charset="0"/>
                <a:cs typeface="Calibri Light" panose="020F0302020204030204" pitchFamily="34" charset="0"/>
              </a:rPr>
              <a:t>thích giá trị của AWS Cloud</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Hiểu và giải thích mô hình trách nhiệm chung của AWS</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Hiểu các best practices về bảo mật AWS Cloud</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Hiểu chi phí AWS Cloud và các phương thức thanh toán</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Mô tả và định vị các dịch vụ AWS cốt lõi, bao gồm tính toán, mạng, cơ sở dữ liệu và lưu trữ</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Xác định các dịch vụ AWS cho các trường hợp sử dụng phổ </a:t>
            </a:r>
            <a:r>
              <a:rPr lang="vi-VN" smtClean="0">
                <a:latin typeface="Calibri Light" panose="020F0302020204030204" pitchFamily="34" charset="0"/>
                <a:cs typeface="Calibri Light" panose="020F0302020204030204" pitchFamily="34" charset="0"/>
              </a:rPr>
              <a:t>biến.</a:t>
            </a:r>
            <a:endParaRPr lang="vi-VN">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a:latin typeface="Calibri Light" panose="020F0302020204030204" pitchFamily="34" charset="0"/>
                <a:cs typeface="Calibri Light" panose="020F0302020204030204" pitchFamily="34" charset="0"/>
              </a:rPr>
              <a:t>AWS Cloud Practicioner </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10</a:t>
            </a:fld>
            <a:endParaRPr lang="en-US"/>
          </a:p>
        </p:txBody>
      </p:sp>
      <p:sp>
        <p:nvSpPr>
          <p:cNvPr id="7" name="TextBox 6"/>
          <p:cNvSpPr txBox="1"/>
          <p:nvPr/>
        </p:nvSpPr>
        <p:spPr>
          <a:xfrm>
            <a:off x="6317672" y="1205597"/>
            <a:ext cx="5486400" cy="2031325"/>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Outline Bài Thi</a:t>
            </a:r>
            <a:endParaRPr lang="en-US" b="1" u="sng">
              <a:latin typeface="Calibri Light" panose="020F0302020204030204" pitchFamily="34" charset="0"/>
              <a:cs typeface="Calibri Light" panose="020F0302020204030204" pitchFamily="34" charset="0"/>
            </a:endParaRPr>
          </a:p>
          <a:p>
            <a:endParaRPr lang="vi-VN" smtClean="0">
              <a:latin typeface="Calibri Light" panose="020F0302020204030204" pitchFamily="34" charset="0"/>
              <a:cs typeface="Calibri Light" panose="020F0302020204030204" pitchFamily="34" charset="0"/>
            </a:endParaRPr>
          </a:p>
          <a:p>
            <a:pPr marL="285750" indent="-285750">
              <a:buFontTx/>
              <a:buChar char="-"/>
            </a:pPr>
            <a:r>
              <a:rPr lang="vi-VN">
                <a:latin typeface="Calibri Light" panose="020F0302020204030204" pitchFamily="34" charset="0"/>
                <a:cs typeface="Calibri Light" panose="020F0302020204030204" pitchFamily="34" charset="0"/>
              </a:rPr>
              <a:t>Các khái niệm về Cloud (26</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Bảo mật và tuân thủ (25</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Kỹ thuật (33</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Thanh toán và giá cả (16</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Tổng: 100%</a:t>
            </a:r>
          </a:p>
        </p:txBody>
      </p:sp>
    </p:spTree>
    <p:extLst>
      <p:ext uri="{BB962C8B-B14F-4D97-AF65-F5344CB8AC3E}">
        <p14:creationId xmlns:p14="http://schemas.microsoft.com/office/powerpoint/2010/main" val="18112436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205597"/>
            <a:ext cx="11222182" cy="3139321"/>
          </a:xfrm>
          <a:prstGeom prst="rect">
            <a:avLst/>
          </a:prstGeom>
          <a:noFill/>
        </p:spPr>
        <p:txBody>
          <a:bodyPr wrap="square" rtlCol="0">
            <a:spAutoFit/>
          </a:bodyPr>
          <a:lstStyle/>
          <a:p>
            <a:r>
              <a:rPr lang="vi-VN" b="1" u="sng">
                <a:latin typeface="Calibri Light" panose="020F0302020204030204" pitchFamily="34" charset="0"/>
                <a:cs typeface="Calibri Light" panose="020F0302020204030204" pitchFamily="34" charset="0"/>
              </a:rPr>
              <a:t>Thông Tin Kỳ Thi</a:t>
            </a:r>
            <a:r>
              <a:rPr lang="vi-VN" b="1" u="sng" smtClean="0">
                <a:latin typeface="Calibri Light" panose="020F0302020204030204" pitchFamily="34" charset="0"/>
                <a:cs typeface="Calibri Light" panose="020F0302020204030204" pitchFamily="34" charset="0"/>
              </a:rPr>
              <a:t>?</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b="1" smtClean="0">
                <a:latin typeface="Calibri Light" panose="020F0302020204030204" pitchFamily="34" charset="0"/>
                <a:cs typeface="Calibri Light" panose="020F0302020204030204" pitchFamily="34" charset="0"/>
              </a:rPr>
              <a:t>Giá</a:t>
            </a:r>
            <a:r>
              <a:rPr lang="vi-VN">
                <a:latin typeface="Calibri Light" panose="020F0302020204030204" pitchFamily="34" charset="0"/>
                <a:cs typeface="Calibri Light" panose="020F0302020204030204" pitchFamily="34" charset="0"/>
              </a:rPr>
              <a:t>: </a:t>
            </a:r>
            <a:r>
              <a:rPr lang="vi-VN" smtClean="0">
                <a:latin typeface="Calibri Light" panose="020F0302020204030204" pitchFamily="34" charset="0"/>
                <a:cs typeface="Calibri Light" panose="020F0302020204030204" pitchFamily="34" charset="0"/>
              </a:rPr>
              <a:t>150USD. Thanh </a:t>
            </a:r>
            <a:r>
              <a:rPr lang="vi-VN">
                <a:latin typeface="Calibri Light" panose="020F0302020204030204" pitchFamily="34" charset="0"/>
                <a:cs typeface="Calibri Light" panose="020F0302020204030204" pitchFamily="34" charset="0"/>
              </a:rPr>
              <a:t>toán trực tuyến trước khi đến địa điểm thi hoặc đến đăng kí và nộp tiền trực tiếp tại địa điểm thi.</a:t>
            </a:r>
          </a:p>
          <a:p>
            <a:pPr marL="285750" indent="-285750">
              <a:buFontTx/>
              <a:buChar char="-"/>
            </a:pPr>
            <a:r>
              <a:rPr lang="vi-VN" b="1">
                <a:latin typeface="Calibri Light" panose="020F0302020204030204" pitchFamily="34" charset="0"/>
                <a:cs typeface="Calibri Light" panose="020F0302020204030204" pitchFamily="34" charset="0"/>
              </a:rPr>
              <a:t>Thể thức thi</a:t>
            </a:r>
            <a:r>
              <a:rPr lang="vi-VN">
                <a:latin typeface="Calibri Light" panose="020F0302020204030204" pitchFamily="34" charset="0"/>
                <a:cs typeface="Calibri Light" panose="020F0302020204030204" pitchFamily="34" charset="0"/>
              </a:rPr>
              <a:t>: 65 câu trắc nghệm. Chọn 1 đáp án đúng hoặc nhiều đáp án đúng.</a:t>
            </a:r>
          </a:p>
          <a:p>
            <a:pPr marL="285750" indent="-285750">
              <a:buFontTx/>
              <a:buChar char="-"/>
            </a:pPr>
            <a:r>
              <a:rPr lang="vi-VN" b="1">
                <a:latin typeface="Calibri Light" panose="020F0302020204030204" pitchFamily="34" charset="0"/>
                <a:cs typeface="Calibri Light" panose="020F0302020204030204" pitchFamily="34" charset="0"/>
              </a:rPr>
              <a:t>Thang điểm đỗ </a:t>
            </a:r>
            <a:r>
              <a:rPr lang="vi-VN">
                <a:latin typeface="Calibri Light" panose="020F0302020204030204" pitchFamily="34" charset="0"/>
                <a:cs typeface="Calibri Light" panose="020F0302020204030204" pitchFamily="34" charset="0"/>
              </a:rPr>
              <a:t>: 720/1000. Bạn sẽ biết trượt hay đỗ ngay sau khi nộp bài.</a:t>
            </a:r>
          </a:p>
          <a:p>
            <a:pPr marL="285750" indent="-285750">
              <a:buFontTx/>
              <a:buChar char="-"/>
            </a:pPr>
            <a:r>
              <a:rPr lang="vi-VN" b="1">
                <a:latin typeface="Calibri Light" panose="020F0302020204030204" pitchFamily="34" charset="0"/>
                <a:cs typeface="Calibri Light" panose="020F0302020204030204" pitchFamily="34" charset="0"/>
              </a:rPr>
              <a:t>Thời gian</a:t>
            </a:r>
            <a:r>
              <a:rPr lang="vi-VN">
                <a:latin typeface="Calibri Light" panose="020F0302020204030204" pitchFamily="34" charset="0"/>
                <a:cs typeface="Calibri Light" panose="020F0302020204030204" pitchFamily="34" charset="0"/>
              </a:rPr>
              <a:t>: 90 phút. Tuy nhiên khi thi bằng tiếng Anh. Những người không nói tiếng anh bản ngữ được phép yêu cầu thêm 30 phút. Thao tác rất đơn giản khi đăng kí. Vậy tổng là 120 phút.</a:t>
            </a:r>
          </a:p>
          <a:p>
            <a:pPr marL="285750" indent="-285750">
              <a:buFontTx/>
              <a:buChar char="-"/>
            </a:pPr>
            <a:r>
              <a:rPr lang="vi-VN" b="1">
                <a:latin typeface="Calibri Light" panose="020F0302020204030204" pitchFamily="34" charset="0"/>
                <a:cs typeface="Calibri Light" panose="020F0302020204030204" pitchFamily="34" charset="0"/>
              </a:rPr>
              <a:t>Cách thức tổ chức</a:t>
            </a:r>
            <a:r>
              <a:rPr lang="vi-VN">
                <a:latin typeface="Calibri Light" panose="020F0302020204030204" pitchFamily="34" charset="0"/>
                <a:cs typeface="Calibri Light" panose="020F0302020204030204" pitchFamily="34" charset="0"/>
              </a:rPr>
              <a:t>: Online hoặc Offline. Ở Việt Nam có rất nhiều trung tâm đứng ra tổ chức thi offline. Bạn sẽ chọn địa điểm, thời gian thi tuỳ ý trước khi thanh toán.</a:t>
            </a:r>
          </a:p>
          <a:p>
            <a:pPr marL="285750" indent="-285750">
              <a:buFontTx/>
              <a:buChar char="-"/>
            </a:pPr>
            <a:r>
              <a:rPr lang="vi-VN" b="1">
                <a:latin typeface="Calibri Light" panose="020F0302020204030204" pitchFamily="34" charset="0"/>
                <a:cs typeface="Calibri Light" panose="020F0302020204030204" pitchFamily="34" charset="0"/>
              </a:rPr>
              <a:t>Cách đăng kí</a:t>
            </a:r>
            <a:r>
              <a:rPr lang="vi-VN">
                <a:latin typeface="Calibri Light" panose="020F0302020204030204" pitchFamily="34" charset="0"/>
                <a:cs typeface="Calibri Light" panose="020F0302020204030204" pitchFamily="34" charset="0"/>
              </a:rPr>
              <a:t>: Bạn có thể đăng kí thi và thanh toán online tại trang của AWS: </a:t>
            </a:r>
            <a:r>
              <a:rPr lang="vi-VN">
                <a:latin typeface="Calibri Light" panose="020F0302020204030204" pitchFamily="34" charset="0"/>
                <a:cs typeface="Calibri Light" panose="020F0302020204030204" pitchFamily="34" charset="0"/>
                <a:hlinkClick r:id="rId3"/>
              </a:rPr>
              <a:t>https://</a:t>
            </a:r>
            <a:r>
              <a:rPr lang="vi-VN" smtClean="0">
                <a:latin typeface="Calibri Light" panose="020F0302020204030204" pitchFamily="34" charset="0"/>
                <a:cs typeface="Calibri Light" panose="020F0302020204030204" pitchFamily="34" charset="0"/>
                <a:hlinkClick r:id="rId3"/>
              </a:rPr>
              <a:t>www.aws.training/Certification</a:t>
            </a:r>
            <a:r>
              <a:rPr lang="vi-VN" smtClean="0">
                <a:latin typeface="Calibri Light" panose="020F0302020204030204" pitchFamily="34" charset="0"/>
                <a:cs typeface="Calibri Light" panose="020F0302020204030204" pitchFamily="34" charset="0"/>
              </a:rPr>
              <a:t> </a:t>
            </a:r>
            <a:endParaRPr lang="vi-VN">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a:latin typeface="Calibri Light" panose="020F0302020204030204" pitchFamily="34" charset="0"/>
                <a:cs typeface="Calibri Light" panose="020F0302020204030204" pitchFamily="34" charset="0"/>
              </a:rPr>
              <a:t>AWS Cloud Practicioner </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11</a:t>
            </a:fld>
            <a:endParaRPr lang="en-US"/>
          </a:p>
        </p:txBody>
      </p:sp>
    </p:spTree>
    <p:extLst>
      <p:ext uri="{BB962C8B-B14F-4D97-AF65-F5344CB8AC3E}">
        <p14:creationId xmlns:p14="http://schemas.microsoft.com/office/powerpoint/2010/main" val="35104762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a:latin typeface="Calibri Light" panose="020F0302020204030204" pitchFamily="34" charset="0"/>
                <a:cs typeface="Calibri Light" panose="020F0302020204030204" pitchFamily="34" charset="0"/>
              </a:rPr>
              <a:t>AWS Cloud Practicioner </a:t>
            </a:r>
            <a:endParaRPr lang="en-US" sz="3600">
              <a:latin typeface="Calibri Light" panose="020F0302020204030204" pitchFamily="34" charset="0"/>
              <a:cs typeface="Calibri Light" panose="020F0302020204030204" pitchFamily="34" charset="0"/>
            </a:endParaRP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12</a:t>
            </a:fld>
            <a:endParaRPr lang="en-US"/>
          </a:p>
        </p:txBody>
      </p:sp>
      <p:pic>
        <p:nvPicPr>
          <p:cNvPr id="6" name="Picture 5"/>
          <p:cNvPicPr>
            <a:picLocks noChangeAspect="1"/>
          </p:cNvPicPr>
          <p:nvPr/>
        </p:nvPicPr>
        <p:blipFill>
          <a:blip r:embed="rId3"/>
          <a:stretch>
            <a:fillRect/>
          </a:stretch>
        </p:blipFill>
        <p:spPr>
          <a:xfrm>
            <a:off x="696000" y="1671684"/>
            <a:ext cx="10800000" cy="4113947"/>
          </a:xfrm>
          <a:prstGeom prst="rect">
            <a:avLst/>
          </a:prstGeom>
        </p:spPr>
      </p:pic>
    </p:spTree>
    <p:extLst>
      <p:ext uri="{BB962C8B-B14F-4D97-AF65-F5344CB8AC3E}">
        <p14:creationId xmlns:p14="http://schemas.microsoft.com/office/powerpoint/2010/main" val="341063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205597"/>
            <a:ext cx="11222182" cy="2308324"/>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Bước 1 : Học khóa học có sẵn của Amazon?</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Link </a:t>
            </a:r>
            <a:r>
              <a:rPr lang="vi-VN">
                <a:latin typeface="Calibri Light" panose="020F0302020204030204" pitchFamily="34" charset="0"/>
                <a:cs typeface="Calibri Light" panose="020F0302020204030204" pitchFamily="34" charset="0"/>
              </a:rPr>
              <a:t>khoá học: </a:t>
            </a:r>
            <a:r>
              <a:rPr lang="vi-VN" smtClean="0">
                <a:latin typeface="Calibri Light" panose="020F0302020204030204" pitchFamily="34" charset="0"/>
                <a:cs typeface="Calibri Light" panose="020F0302020204030204" pitchFamily="34" charset="0"/>
                <a:hlinkClick r:id="rId3"/>
              </a:rPr>
              <a:t>AWS Cloud Practitioner Essentials </a:t>
            </a:r>
            <a:r>
              <a:rPr lang="vi-VN" smtClean="0">
                <a:latin typeface="Calibri Light" panose="020F0302020204030204" pitchFamily="34" charset="0"/>
                <a:cs typeface="Calibri Light" panose="020F0302020204030204" pitchFamily="34" charset="0"/>
              </a:rPr>
              <a:t> </a:t>
            </a:r>
            <a:endParaRPr lang="vi-VN">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Cung </a:t>
            </a:r>
            <a:r>
              <a:rPr lang="vi-VN">
                <a:latin typeface="Calibri Light" panose="020F0302020204030204" pitchFamily="34" charset="0"/>
                <a:cs typeface="Calibri Light" panose="020F0302020204030204" pitchFamily="34" charset="0"/>
              </a:rPr>
              <a:t>cấp cho bạn những kiến thức cơ bản nhất mà mỗi người mới bắt đầu với AWS Cloud cần nắm được. Bạn sẽ có được cái nhìn tổng quan và chi tiết về các khái niệm của Cloud, các dịch vụ Amazon Web Services, bảo mật, kiến trúc, giá cả và chính sách hỗ trợ khách hàng</a:t>
            </a:r>
            <a:r>
              <a:rPr lang="vi-VN" smtClean="0">
                <a:latin typeface="Calibri Light" panose="020F0302020204030204" pitchFamily="34" charset="0"/>
                <a:cs typeface="Calibri Light" panose="020F0302020204030204" pitchFamily="34" charset="0"/>
              </a:rPr>
              <a:t>.</a:t>
            </a:r>
          </a:p>
          <a:p>
            <a:pPr marL="285750" indent="-285750">
              <a:buFontTx/>
              <a:buChar char="-"/>
            </a:pPr>
            <a:r>
              <a:rPr lang="vi-VN">
                <a:latin typeface="Calibri Light" panose="020F0302020204030204" pitchFamily="34" charset="0"/>
                <a:cs typeface="Calibri Light" panose="020F0302020204030204" pitchFamily="34" charset="0"/>
              </a:rPr>
              <a:t>Đồng thời cũng có Bài test 30 câu ở cuối khoá học với những câu hỏi cơ bản mô phỏng 1 phần đề thi thực tế</a:t>
            </a:r>
            <a:r>
              <a:rPr lang="vi-VN" smtClean="0">
                <a:latin typeface="Calibri Light" panose="020F0302020204030204" pitchFamily="34" charset="0"/>
                <a:cs typeface="Calibri Light" panose="020F0302020204030204" pitchFamily="34" charset="0"/>
              </a:rPr>
              <a:t>.</a:t>
            </a:r>
            <a:endParaRPr lang="vi-VN">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Thời </a:t>
            </a:r>
            <a:r>
              <a:rPr lang="vi-VN">
                <a:latin typeface="Calibri Light" panose="020F0302020204030204" pitchFamily="34" charset="0"/>
                <a:cs typeface="Calibri Light" panose="020F0302020204030204" pitchFamily="34" charset="0"/>
              </a:rPr>
              <a:t>lượng: 6 </a:t>
            </a:r>
            <a:r>
              <a:rPr lang="vi-VN" smtClean="0">
                <a:latin typeface="Calibri Light" panose="020F0302020204030204" pitchFamily="34" charset="0"/>
                <a:cs typeface="Calibri Light" panose="020F0302020204030204" pitchFamily="34" charset="0"/>
              </a:rPr>
              <a:t>tiếng</a:t>
            </a:r>
            <a:endParaRPr lang="vi-VN">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a:latin typeface="Calibri Light" panose="020F0302020204030204" pitchFamily="34" charset="0"/>
                <a:cs typeface="Calibri Light" panose="020F0302020204030204" pitchFamily="34" charset="0"/>
              </a:rPr>
              <a:t>Cách ôn thi AWS </a:t>
            </a:r>
            <a:r>
              <a:rPr lang="en-US" sz="3600">
                <a:latin typeface="Calibri Light" panose="020F0302020204030204" pitchFamily="34" charset="0"/>
                <a:cs typeface="Calibri Light" panose="020F0302020204030204" pitchFamily="34" charset="0"/>
              </a:rPr>
              <a:t>Cloud Practicioner</a:t>
            </a: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13</a:t>
            </a:fld>
            <a:endParaRPr lang="en-US"/>
          </a:p>
        </p:txBody>
      </p:sp>
      <p:sp>
        <p:nvSpPr>
          <p:cNvPr id="6" name="TextBox 5"/>
          <p:cNvSpPr txBox="1"/>
          <p:nvPr/>
        </p:nvSpPr>
        <p:spPr>
          <a:xfrm>
            <a:off x="609600" y="3790920"/>
            <a:ext cx="11222182" cy="2585323"/>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Bước 2 : Học khóa học Youtube của FreeCodeCamp?</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a:latin typeface="Calibri Light" panose="020F0302020204030204" pitchFamily="34" charset="0"/>
                <a:cs typeface="Calibri Light" panose="020F0302020204030204" pitchFamily="34" charset="0"/>
              </a:rPr>
              <a:t>Link Khoá học </a:t>
            </a:r>
            <a:r>
              <a:rPr lang="en-US" smtClean="0">
                <a:latin typeface="Calibri Light" panose="020F0302020204030204" pitchFamily="34" charset="0"/>
                <a:cs typeface="Calibri Light" panose="020F0302020204030204" pitchFamily="34" charset="0"/>
                <a:hlinkClick r:id="rId4"/>
              </a:rPr>
              <a:t>AWS Certified Cloud Practitioner Training 2020 - Full Course </a:t>
            </a:r>
            <a:r>
              <a:rPr lang="vi-VN" smtClean="0">
                <a:latin typeface="Calibri Light" panose="020F0302020204030204" pitchFamily="34" charset="0"/>
                <a:cs typeface="Calibri Light" panose="020F0302020204030204" pitchFamily="34" charset="0"/>
              </a:rPr>
              <a:t> </a:t>
            </a:r>
            <a:endParaRPr lang="vi-VN">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Khoá </a:t>
            </a:r>
            <a:r>
              <a:rPr lang="vi-VN">
                <a:latin typeface="Calibri Light" panose="020F0302020204030204" pitchFamily="34" charset="0"/>
                <a:cs typeface="Calibri Light" panose="020F0302020204030204" pitchFamily="34" charset="0"/>
              </a:rPr>
              <a:t>học của freeCodeCamp.org sẽ đi vào chi tiết những thành phần của Amazon Web Services giúp bạn có cái nhìn rõ rét hơn về </a:t>
            </a:r>
            <a:r>
              <a:rPr lang="vi-VN" smtClean="0">
                <a:latin typeface="Calibri Light" panose="020F0302020204030204" pitchFamily="34" charset="0"/>
                <a:cs typeface="Calibri Light" panose="020F0302020204030204" pitchFamily="34" charset="0"/>
              </a:rPr>
              <a:t>chúng.</a:t>
            </a:r>
          </a:p>
          <a:p>
            <a:pPr marL="285750" indent="-285750">
              <a:buFontTx/>
              <a:buChar char="-"/>
            </a:pPr>
            <a:r>
              <a:rPr lang="vi-VN">
                <a:latin typeface="Calibri Light" panose="020F0302020204030204" pitchFamily="34" charset="0"/>
                <a:cs typeface="Calibri Light" panose="020F0302020204030204" pitchFamily="34" charset="0"/>
              </a:rPr>
              <a:t>Theo mình thấy thì học ở đây các video được chia nhỏ ra, nên rất dễ tìm lại những phần chưa nhớ. Nhưng bài giảng có thể khá nhanh ( với những bạn nghe tiếng Anh chưa quen). Bạn nên dùng series này để tổng hợp kiến thức thì hơn.</a:t>
            </a:r>
          </a:p>
          <a:p>
            <a:pPr marL="285750" indent="-285750">
              <a:buFontTx/>
              <a:buChar char="-"/>
            </a:pPr>
            <a:r>
              <a:rPr lang="vi-VN" smtClean="0">
                <a:latin typeface="Calibri Light" panose="020F0302020204030204" pitchFamily="34" charset="0"/>
                <a:cs typeface="Calibri Light" panose="020F0302020204030204" pitchFamily="34" charset="0"/>
              </a:rPr>
              <a:t>Thời </a:t>
            </a:r>
            <a:r>
              <a:rPr lang="vi-VN">
                <a:latin typeface="Calibri Light" panose="020F0302020204030204" pitchFamily="34" charset="0"/>
                <a:cs typeface="Calibri Light" panose="020F0302020204030204" pitchFamily="34" charset="0"/>
              </a:rPr>
              <a:t>lượng: 4 </a:t>
            </a:r>
            <a:r>
              <a:rPr lang="vi-VN" smtClean="0">
                <a:latin typeface="Calibri Light" panose="020F0302020204030204" pitchFamily="34" charset="0"/>
                <a:cs typeface="Calibri Light" panose="020F0302020204030204" pitchFamily="34" charset="0"/>
              </a:rPr>
              <a:t>tiếng</a:t>
            </a:r>
          </a:p>
        </p:txBody>
      </p:sp>
    </p:spTree>
    <p:extLst>
      <p:ext uri="{BB962C8B-B14F-4D97-AF65-F5344CB8AC3E}">
        <p14:creationId xmlns:p14="http://schemas.microsoft.com/office/powerpoint/2010/main" val="30609689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205597"/>
            <a:ext cx="11222182" cy="1200329"/>
          </a:xfrm>
          <a:prstGeom prst="rect">
            <a:avLst/>
          </a:prstGeom>
          <a:noFill/>
        </p:spPr>
        <p:txBody>
          <a:bodyPr wrap="square" rtlCol="0">
            <a:spAutoFit/>
          </a:bodyPr>
          <a:lstStyle/>
          <a:p>
            <a:r>
              <a:rPr lang="vi-VN" b="1" u="sng" smtClean="0">
                <a:latin typeface="Calibri Light" panose="020F0302020204030204" pitchFamily="34" charset="0"/>
                <a:cs typeface="Calibri Light" panose="020F0302020204030204" pitchFamily="34" charset="0"/>
              </a:rPr>
              <a:t>Bước 3 : Làm test trên </a:t>
            </a:r>
            <a:r>
              <a:rPr lang="vi-VN" b="1" u="sng" smtClean="0">
                <a:latin typeface="Calibri Light" panose="020F0302020204030204" pitchFamily="34" charset="0"/>
                <a:cs typeface="Calibri Light" panose="020F0302020204030204" pitchFamily="34" charset="0"/>
              </a:rPr>
              <a:t>Udemy</a:t>
            </a:r>
            <a:endParaRPr lang="en-US" b="1" u="sng" smtClean="0">
              <a:latin typeface="Calibri Light" panose="020F0302020204030204" pitchFamily="34" charset="0"/>
              <a:cs typeface="Calibri Light" panose="020F0302020204030204" pitchFamily="34" charset="0"/>
            </a:endParaRPr>
          </a:p>
          <a:p>
            <a:endParaRPr lang="en-US">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Link </a:t>
            </a:r>
            <a:r>
              <a:rPr lang="vi-VN">
                <a:latin typeface="Calibri Light" panose="020F0302020204030204" pitchFamily="34" charset="0"/>
                <a:cs typeface="Calibri Light" panose="020F0302020204030204" pitchFamily="34" charset="0"/>
              </a:rPr>
              <a:t>khoá học: </a:t>
            </a:r>
            <a:r>
              <a:rPr lang="vi-VN">
                <a:latin typeface="Calibri Light" panose="020F0302020204030204" pitchFamily="34" charset="0"/>
                <a:cs typeface="Calibri Light" panose="020F0302020204030204" pitchFamily="34" charset="0"/>
                <a:hlinkClick r:id="rId3"/>
              </a:rPr>
              <a:t>https://www.udemy.com/course/aws-certified-cloud-practitioner-training-course</a:t>
            </a:r>
            <a:r>
              <a:rPr lang="vi-VN" smtClean="0">
                <a:latin typeface="Calibri Light" panose="020F0302020204030204" pitchFamily="34" charset="0"/>
                <a:cs typeface="Calibri Light" panose="020F0302020204030204" pitchFamily="34" charset="0"/>
                <a:hlinkClick r:id="rId3"/>
              </a:rPr>
              <a:t>/</a:t>
            </a:r>
            <a:r>
              <a:rPr lang="vi-VN" smtClean="0">
                <a:latin typeface="Calibri Light" panose="020F0302020204030204" pitchFamily="34" charset="0"/>
                <a:cs typeface="Calibri Light" panose="020F0302020204030204" pitchFamily="34" charset="0"/>
              </a:rPr>
              <a:t> </a:t>
            </a:r>
            <a:endParaRPr lang="vi-VN">
              <a:latin typeface="Calibri Light" panose="020F0302020204030204" pitchFamily="34" charset="0"/>
              <a:cs typeface="Calibri Light" panose="020F0302020204030204" pitchFamily="34" charset="0"/>
            </a:endParaRPr>
          </a:p>
          <a:p>
            <a:pPr marL="285750" indent="-285750">
              <a:buFontTx/>
              <a:buChar char="-"/>
            </a:pPr>
            <a:r>
              <a:rPr lang="vi-VN" smtClean="0">
                <a:latin typeface="Calibri Light" panose="020F0302020204030204" pitchFamily="34" charset="0"/>
                <a:cs typeface="Calibri Light" panose="020F0302020204030204" pitchFamily="34" charset="0"/>
              </a:rPr>
              <a:t>Thời </a:t>
            </a:r>
            <a:r>
              <a:rPr lang="vi-VN">
                <a:latin typeface="Calibri Light" panose="020F0302020204030204" pitchFamily="34" charset="0"/>
                <a:cs typeface="Calibri Light" panose="020F0302020204030204" pitchFamily="34" charset="0"/>
              </a:rPr>
              <a:t>lượng: </a:t>
            </a:r>
            <a:r>
              <a:rPr lang="vi-VN" smtClean="0">
                <a:latin typeface="Calibri Light" panose="020F0302020204030204" pitchFamily="34" charset="0"/>
                <a:cs typeface="Calibri Light" panose="020F0302020204030204" pitchFamily="34" charset="0"/>
              </a:rPr>
              <a:t>12 tiếng</a:t>
            </a:r>
            <a:endParaRPr lang="vi-VN">
              <a:latin typeface="Calibri Light" panose="020F0302020204030204" pitchFamily="34" charset="0"/>
              <a:cs typeface="Calibri Light" panose="020F0302020204030204" pitchFamily="34" charset="0"/>
            </a:endParaRPr>
          </a:p>
        </p:txBody>
      </p:sp>
      <p:sp>
        <p:nvSpPr>
          <p:cNvPr id="4" name="TextBox 3"/>
          <p:cNvSpPr txBox="1"/>
          <p:nvPr/>
        </p:nvSpPr>
        <p:spPr>
          <a:xfrm>
            <a:off x="0" y="173276"/>
            <a:ext cx="12192000" cy="646331"/>
          </a:xfrm>
          <a:prstGeom prst="rect">
            <a:avLst/>
          </a:prstGeom>
          <a:noFill/>
          <a:ln w="6350">
            <a:noFill/>
          </a:ln>
        </p:spPr>
        <p:txBody>
          <a:bodyPr wrap="square" rtlCol="0">
            <a:spAutoFit/>
          </a:bodyPr>
          <a:lstStyle/>
          <a:p>
            <a:r>
              <a:rPr lang="vi-VN" sz="3600">
                <a:latin typeface="Calibri Light" panose="020F0302020204030204" pitchFamily="34" charset="0"/>
                <a:cs typeface="Calibri Light" panose="020F0302020204030204" pitchFamily="34" charset="0"/>
              </a:rPr>
              <a:t>Cách ôn thi AWS </a:t>
            </a:r>
            <a:r>
              <a:rPr lang="en-US" sz="3600">
                <a:latin typeface="Calibri Light" panose="020F0302020204030204" pitchFamily="34" charset="0"/>
                <a:cs typeface="Calibri Light" panose="020F0302020204030204" pitchFamily="34" charset="0"/>
              </a:rPr>
              <a:t>Cloud Practicioner</a:t>
            </a:r>
          </a:p>
        </p:txBody>
      </p:sp>
      <p:cxnSp>
        <p:nvCxnSpPr>
          <p:cNvPr id="5" name="Straight Connector 4"/>
          <p:cNvCxnSpPr/>
          <p:nvPr/>
        </p:nvCxnSpPr>
        <p:spPr>
          <a:xfrm>
            <a:off x="0" y="997529"/>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7B7897BD-48E5-4DA5-B5A0-A5A7EEEB98D5}" type="slidenum">
              <a:rPr lang="en-US" smtClean="0"/>
              <a:t>14</a:t>
            </a:fld>
            <a:endParaRPr lang="en-US"/>
          </a:p>
        </p:txBody>
      </p:sp>
    </p:spTree>
    <p:extLst>
      <p:ext uri="{BB962C8B-B14F-4D97-AF65-F5344CB8AC3E}">
        <p14:creationId xmlns:p14="http://schemas.microsoft.com/office/powerpoint/2010/main" val="232412284"/>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150</TotalTime>
  <Words>1184</Words>
  <Application>Microsoft Office PowerPoint</Application>
  <PresentationFormat>Widescreen</PresentationFormat>
  <Paragraphs>145</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ＭＳ Ｐゴシック</vt:lpstr>
      <vt:lpstr>Arial</vt:lpstr>
      <vt:lpstr>Calibri</vt:lpstr>
      <vt:lpstr>Calibri Light</vt:lpstr>
      <vt:lpstr>Retrospect</vt:lpstr>
      <vt:lpstr>AWS Base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Base</dc:title>
  <dc:creator>Tung Do</dc:creator>
  <cp:lastModifiedBy>Tung Do</cp:lastModifiedBy>
  <cp:revision>108</cp:revision>
  <dcterms:created xsi:type="dcterms:W3CDTF">2022-04-12T22:57:06Z</dcterms:created>
  <dcterms:modified xsi:type="dcterms:W3CDTF">2022-04-13T01:31:58Z</dcterms:modified>
</cp:coreProperties>
</file>